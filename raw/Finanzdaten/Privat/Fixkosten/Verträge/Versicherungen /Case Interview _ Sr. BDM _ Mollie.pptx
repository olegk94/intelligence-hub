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8c67aa7cd3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8c67aa7cd3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c67aa7cd3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c67aa7cd3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c67aa7cd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c67aa7cd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Warum Lodenfrey?</a:t>
            </a:r>
            <a:br>
              <a:rPr lang="de" sz="1200"/>
            </a:br>
            <a:r>
              <a:rPr lang="de" sz="1200"/>
              <a:t>Ich sehe Lodenfrey als klassischen ‚Upmarket Merchant‘ – hoher Anspruch, Multi-Market-Zahlungen, starker Fokus auf Kundenerlebnis. Genau hier kann Mollie Differenzierung bringen.</a:t>
            </a:r>
            <a:endParaRPr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c67aa7cd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c67aa7cd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I</a:t>
            </a:r>
            <a:r>
              <a:rPr lang="de"/>
              <a:t>ch positioniere Mollie hier als Wachstumspartner, nicht als reinen Payment-Anbieter – also als Enabler für Conversion, Expansion und operative Effizienz.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c67aa7cd3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c67aa7cd3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de">
                <a:solidFill>
                  <a:schemeClr val="dk1"/>
                </a:solidFill>
              </a:rPr>
              <a:t>Ich kombiniere hier Multi-Touch mit Substanz – weniger Masse, mehr Relevanz. Entscheidend ist, dass der Kunde </a:t>
            </a:r>
            <a:r>
              <a:rPr i="1" lang="de">
                <a:solidFill>
                  <a:schemeClr val="dk1"/>
                </a:solidFill>
              </a:rPr>
              <a:t>merkt</a:t>
            </a:r>
            <a:r>
              <a:rPr lang="de">
                <a:solidFill>
                  <a:schemeClr val="dk1"/>
                </a:solidFill>
              </a:rPr>
              <a:t>, dass ich seine Situation verstehe.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c67aa7cd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c67aa7cd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>
                <a:solidFill>
                  <a:srgbClr val="0E0E0E"/>
                </a:solidFill>
              </a:rPr>
              <a:t>„Ich mappe jedes Zielkonto systematisch nach Entscheidungsstrukturen.</a:t>
            </a:r>
            <a:endParaRPr sz="1000">
              <a:solidFill>
                <a:srgbClr val="0E0E0E"/>
              </a:solidFill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>
                <a:solidFill>
                  <a:srgbClr val="0E0E0E"/>
                </a:solidFill>
              </a:rPr>
              <a:t>Beim Beispiel Lodenfrey sind der </a:t>
            </a:r>
            <a:r>
              <a:rPr b="1" lang="de" sz="1000">
                <a:solidFill>
                  <a:srgbClr val="0E0E0E"/>
                </a:solidFill>
              </a:rPr>
              <a:t>Head of E-Commerce</a:t>
            </a:r>
            <a:r>
              <a:rPr lang="de" sz="1000">
                <a:solidFill>
                  <a:srgbClr val="0E0E0E"/>
                </a:solidFill>
              </a:rPr>
              <a:t> und der </a:t>
            </a:r>
            <a:r>
              <a:rPr b="1" lang="de" sz="1000">
                <a:solidFill>
                  <a:srgbClr val="0E0E0E"/>
                </a:solidFill>
              </a:rPr>
              <a:t>CFO</a:t>
            </a:r>
            <a:r>
              <a:rPr lang="de" sz="1000">
                <a:solidFill>
                  <a:srgbClr val="0E0E0E"/>
                </a:solidFill>
              </a:rPr>
              <a:t> meine primären Einstiegspunkte.</a:t>
            </a:r>
            <a:endParaRPr sz="1000">
              <a:solidFill>
                <a:srgbClr val="0E0E0E"/>
              </a:solidFill>
            </a:endParaRPr>
          </a:p>
          <a:p>
            <a:pPr indent="0" lvl="0" marL="139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00">
                <a:solidFill>
                  <a:srgbClr val="0E0E0E"/>
                </a:solidFill>
              </a:rPr>
              <a:t>Nach dem ersten Kontakt baue ich dann die technische und operative Ebene mit ein – das schafft Vertrauen und Geschwindigkeit im Sales Cycle.“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c67aa7cd3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c67aa7cd3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Kurz, relevant, kein Verkaufspitch. Ich biete Mehrwert und leite direkt in den Termin über.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c67aa7cd3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c67aa7cd3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Ich sehe hier eine ungesunde Pipeline-Balance – viel Aktivität, aber wenig Abschlusskraft. Hauptursache: schwache Qualifizierung und Momentumverlust.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c67aa7cd3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c67aa7cd3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de">
                <a:solidFill>
                  <a:schemeClr val="dk1"/>
                </a:solidFill>
              </a:rPr>
              <a:t>Ich coache nie mit Vorwurf, sondern mit Struktur. Ziel ist, dass der Kollege Ownership übernimmt – gemäß Mollie-Prinzip </a:t>
            </a:r>
            <a:r>
              <a:rPr i="1" lang="de">
                <a:solidFill>
                  <a:schemeClr val="dk1"/>
                </a:solidFill>
              </a:rPr>
              <a:t>‘Coach like a peer, not a boss’</a:t>
            </a:r>
            <a:r>
              <a:rPr lang="de">
                <a:solidFill>
                  <a:schemeClr val="dk1"/>
                </a:solidFill>
              </a:rPr>
              <a:t>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c67aa7cd3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c67aa7cd3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Ich verbinde bei Mollie Geschwindigkeit mit Struktur – Qualität in jedem Schritt, vom Erstkontakt bis zum Closing.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29100" y="863550"/>
            <a:ext cx="41934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800"/>
              <a:t>Senior BDM DACH bei Mollie</a:t>
            </a:r>
            <a:br>
              <a:rPr b="1" lang="de" sz="1800"/>
            </a:br>
            <a:br>
              <a:rPr b="1" lang="de" sz="1800"/>
            </a:br>
            <a:r>
              <a:rPr b="1" lang="de" sz="1800"/>
              <a:t>Oleg Kober</a:t>
            </a:r>
            <a:br>
              <a:rPr b="1" lang="de" sz="1800"/>
            </a:br>
            <a:br>
              <a:rPr b="1" lang="de" sz="1800"/>
            </a:br>
            <a:br>
              <a:rPr b="1" lang="de" sz="1800"/>
            </a:br>
            <a:endParaRPr b="1" sz="18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4522500" y="863550"/>
            <a:ext cx="42924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000">
                <a:solidFill>
                  <a:schemeClr val="dk1"/>
                </a:solidFill>
              </a:rPr>
              <a:t>Rolle: </a:t>
            </a:r>
            <a:r>
              <a:rPr lang="de" sz="1000">
                <a:solidFill>
                  <a:schemeClr val="dk1"/>
                </a:solidFill>
              </a:rPr>
              <a:t>Senior BDM DACH bei Mollie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000">
                <a:solidFill>
                  <a:schemeClr val="dk1"/>
                </a:solidFill>
              </a:rPr>
              <a:t>Ziel:</a:t>
            </a:r>
            <a:r>
              <a:rPr lang="de" sz="1000">
                <a:solidFill>
                  <a:schemeClr val="dk1"/>
                </a:solidFill>
              </a:rPr>
              <a:t> Lodenfrey als neuen Mollie-Kunden gewinnen</a:t>
            </a:r>
            <a:br>
              <a:rPr lang="de" sz="1000">
                <a:solidFill>
                  <a:schemeClr val="dk1"/>
                </a:solidFill>
              </a:rPr>
            </a:br>
            <a:br>
              <a:rPr lang="de" sz="1000">
                <a:solidFill>
                  <a:schemeClr val="dk1"/>
                </a:solidFill>
              </a:rPr>
            </a:br>
            <a:r>
              <a:rPr b="1" lang="de" sz="1000">
                <a:solidFill>
                  <a:schemeClr val="dk1"/>
                </a:solidFill>
              </a:rPr>
              <a:t>Datum: </a:t>
            </a:r>
            <a:r>
              <a:rPr lang="de" sz="1000">
                <a:solidFill>
                  <a:schemeClr val="dk1"/>
                </a:solidFill>
              </a:rPr>
              <a:t>15.10.2025</a:t>
            </a:r>
            <a:br>
              <a:rPr lang="de" sz="1000">
                <a:solidFill>
                  <a:schemeClr val="dk1"/>
                </a:solidFill>
              </a:rPr>
            </a:br>
            <a:br>
              <a:rPr lang="de" sz="1000">
                <a:solidFill>
                  <a:schemeClr val="dk1"/>
                </a:solidFill>
              </a:rPr>
            </a:br>
            <a:r>
              <a:rPr b="1" lang="de" sz="1000">
                <a:solidFill>
                  <a:schemeClr val="dk1"/>
                </a:solidFill>
              </a:rPr>
              <a:t>Anforderungen der Case Study:</a:t>
            </a:r>
            <a:br>
              <a:rPr lang="de" sz="1000">
                <a:solidFill>
                  <a:schemeClr val="dk1"/>
                </a:solidFill>
              </a:rPr>
            </a:br>
            <a:br>
              <a:rPr lang="de" sz="1000">
                <a:solidFill>
                  <a:schemeClr val="dk1"/>
                </a:solidFill>
              </a:rPr>
            </a:br>
            <a:r>
              <a:rPr lang="de" sz="1000">
                <a:solidFill>
                  <a:schemeClr val="dk1"/>
                </a:solidFill>
              </a:rPr>
              <a:t> • Qualifizierte Zielauswahl → mit Marktdaten  untermauern</a:t>
            </a:r>
            <a:br>
              <a:rPr lang="de" sz="1000">
                <a:solidFill>
                  <a:schemeClr val="dk1"/>
                </a:solidFill>
              </a:rPr>
            </a:br>
            <a:br>
              <a:rPr lang="de" sz="1000">
                <a:solidFill>
                  <a:schemeClr val="dk1"/>
                </a:solidFill>
              </a:rPr>
            </a:br>
            <a:r>
              <a:rPr lang="de" sz="1000">
                <a:solidFill>
                  <a:schemeClr val="dk1"/>
                </a:solidFill>
              </a:rPr>
              <a:t> • Strategischer Outreach-Plan</a:t>
            </a:r>
            <a:br>
              <a:rPr lang="de" sz="1000">
                <a:solidFill>
                  <a:schemeClr val="dk1"/>
                </a:solidFill>
              </a:rPr>
            </a:br>
            <a:br>
              <a:rPr lang="de" sz="1000">
                <a:solidFill>
                  <a:schemeClr val="dk1"/>
                </a:solidFill>
              </a:rPr>
            </a:br>
            <a:r>
              <a:rPr lang="de" sz="1000">
                <a:solidFill>
                  <a:schemeClr val="dk1"/>
                </a:solidFill>
              </a:rPr>
              <a:t> • Pipeline-Analyse mit Risiken &amp; Maßnahmen</a:t>
            </a:r>
            <a:br>
              <a:rPr lang="de" sz="1000">
                <a:solidFill>
                  <a:schemeClr val="dk1"/>
                </a:solidFill>
              </a:rPr>
            </a:br>
            <a:br>
              <a:rPr lang="de" sz="1000">
                <a:solidFill>
                  <a:schemeClr val="dk1"/>
                </a:solidFill>
              </a:rPr>
            </a:br>
            <a:r>
              <a:rPr lang="de" sz="1000">
                <a:solidFill>
                  <a:schemeClr val="dk1"/>
                </a:solidFill>
              </a:rPr>
              <a:t> • Coaching-Framework für Junior-BDM</a:t>
            </a:r>
            <a:br>
              <a:rPr lang="de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idx="4294967295" type="title"/>
          </p:nvPr>
        </p:nvSpPr>
        <p:spPr>
          <a:xfrm>
            <a:off x="353525" y="359525"/>
            <a:ext cx="4045200" cy="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r>
              <a:rPr b="1" lang="de" sz="1800"/>
              <a:t>Agenda</a:t>
            </a:r>
            <a:endParaRPr b="1" sz="1800"/>
          </a:p>
        </p:txBody>
      </p:sp>
      <p:sp>
        <p:nvSpPr>
          <p:cNvPr id="61" name="Google Shape;61;p14"/>
          <p:cNvSpPr txBox="1"/>
          <p:nvPr>
            <p:ph idx="4294967295" type="subTitle"/>
          </p:nvPr>
        </p:nvSpPr>
        <p:spPr>
          <a:xfrm>
            <a:off x="265500" y="1137300"/>
            <a:ext cx="8539500" cy="368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b="1" lang="de" sz="1000">
                <a:solidFill>
                  <a:schemeClr val="dk1"/>
                </a:solidFill>
              </a:rPr>
              <a:t>Titel &amp; Agenda</a:t>
            </a:r>
            <a:r>
              <a:rPr lang="de" sz="1000">
                <a:solidFill>
                  <a:schemeClr val="dk1"/>
                </a:solidFill>
              </a:rPr>
              <a:t> – Erwartungshaltung setzen</a:t>
            </a:r>
            <a:br>
              <a:rPr lang="de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b="1" lang="de" sz="1000">
                <a:solidFill>
                  <a:schemeClr val="dk1"/>
                </a:solidFill>
              </a:rPr>
              <a:t>Überblick &amp; Zielsetzung</a:t>
            </a:r>
            <a:r>
              <a:rPr lang="de" sz="1000">
                <a:solidFill>
                  <a:schemeClr val="dk1"/>
                </a:solidFill>
              </a:rPr>
              <a:t> – Rolle &amp; Ziel definieren</a:t>
            </a:r>
            <a:br>
              <a:rPr lang="de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b="1" lang="de" sz="1000">
                <a:solidFill>
                  <a:schemeClr val="dk1"/>
                </a:solidFill>
              </a:rPr>
              <a:t>Warum Lodenfrey?</a:t>
            </a:r>
            <a:r>
              <a:rPr lang="de" sz="1000">
                <a:solidFill>
                  <a:schemeClr val="dk1"/>
                </a:solidFill>
              </a:rPr>
              <a:t> – Auswahl begründen</a:t>
            </a:r>
            <a:br>
              <a:rPr lang="de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b="1" lang="de" sz="1000">
                <a:solidFill>
                  <a:schemeClr val="dk1"/>
                </a:solidFill>
              </a:rPr>
              <a:t>Pain Points &amp; Mollie-Mehrwert</a:t>
            </a:r>
            <a:r>
              <a:rPr lang="de" sz="1000">
                <a:solidFill>
                  <a:schemeClr val="dk1"/>
                </a:solidFill>
              </a:rPr>
              <a:t> – Relevanz herstellen</a:t>
            </a:r>
            <a:br>
              <a:rPr lang="de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b="1" lang="de" sz="1000">
                <a:solidFill>
                  <a:schemeClr val="dk1"/>
                </a:solidFill>
              </a:rPr>
              <a:t>Stakeholder-Mapping</a:t>
            </a:r>
            <a:r>
              <a:rPr lang="de" sz="1000">
                <a:solidFill>
                  <a:schemeClr val="dk1"/>
                </a:solidFill>
              </a:rPr>
              <a:t> – Entscheidungsstruktur zeigen</a:t>
            </a:r>
            <a:br>
              <a:rPr lang="de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b="1" lang="de" sz="1000">
                <a:solidFill>
                  <a:schemeClr val="dk1"/>
                </a:solidFill>
              </a:rPr>
              <a:t>Outreach-Strategie</a:t>
            </a:r>
            <a:r>
              <a:rPr lang="de" sz="1000">
                <a:solidFill>
                  <a:schemeClr val="dk1"/>
                </a:solidFill>
              </a:rPr>
              <a:t> – konkrete Schritte &amp; Taktik</a:t>
            </a:r>
            <a:br>
              <a:rPr lang="de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b="1" lang="de" sz="1000">
                <a:solidFill>
                  <a:schemeClr val="dk1"/>
                </a:solidFill>
              </a:rPr>
              <a:t>Beispiel-Nachricht</a:t>
            </a:r>
            <a:r>
              <a:rPr lang="de" sz="1000">
                <a:solidFill>
                  <a:schemeClr val="dk1"/>
                </a:solidFill>
              </a:rPr>
              <a:t> – Authentischer Einstieg (deine finale Kurzversion)</a:t>
            </a:r>
            <a:br>
              <a:rPr lang="de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b="1" lang="de" sz="1000">
                <a:solidFill>
                  <a:schemeClr val="dk1"/>
                </a:solidFill>
              </a:rPr>
              <a:t>Pipeline-Snapshot &amp; Analyse</a:t>
            </a:r>
            <a:r>
              <a:rPr lang="de" sz="1000">
                <a:solidFill>
                  <a:schemeClr val="dk1"/>
                </a:solidFill>
              </a:rPr>
              <a:t> – Datenbasiertes Denken</a:t>
            </a:r>
            <a:br>
              <a:rPr lang="de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b="1" lang="de" sz="1000">
                <a:solidFill>
                  <a:schemeClr val="dk1"/>
                </a:solidFill>
              </a:rPr>
              <a:t>Coaching-Ansatz &amp; Enablement</a:t>
            </a:r>
            <a:r>
              <a:rPr lang="de" sz="1000">
                <a:solidFill>
                  <a:schemeClr val="dk1"/>
                </a:solidFill>
              </a:rPr>
              <a:t> – Führungsqualität demonstrieren</a:t>
            </a:r>
            <a:br>
              <a:rPr lang="de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b="1" lang="de" sz="1000">
                <a:solidFill>
                  <a:schemeClr val="dk1"/>
                </a:solidFill>
              </a:rPr>
              <a:t>Zusammenfassung &amp; Nächste Schritte</a:t>
            </a:r>
            <a:r>
              <a:rPr lang="de" sz="1000">
                <a:solidFill>
                  <a:schemeClr val="dk1"/>
                </a:solidFill>
              </a:rPr>
              <a:t> – Ownership zeigen</a:t>
            </a:r>
            <a:br>
              <a:rPr lang="de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400"/>
              </a:spcAft>
              <a:buSzPts val="1100"/>
              <a:buNone/>
            </a:pPr>
            <a:r>
              <a:rPr b="1" lang="de" sz="1800"/>
              <a:t>Warum Lodenfrey?</a:t>
            </a:r>
            <a:endParaRPr b="1" sz="180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324400" cy="3416400"/>
          </a:xfrm>
          <a:prstGeom prst="rect">
            <a:avLst/>
          </a:prstGeom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28575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de" sz="1000">
                <a:solidFill>
                  <a:schemeClr val="dk1"/>
                </a:solidFill>
              </a:rPr>
              <a:t>Familienunternehmen seit 1842, aktuell sechste Generation </a:t>
            </a:r>
            <a:br>
              <a:rPr lang="de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de" sz="1000">
                <a:solidFill>
                  <a:schemeClr val="dk1"/>
                </a:solidFill>
              </a:rPr>
              <a:t>Jahresumsatz ~ €88,5 Mio netto (2021/22) </a:t>
            </a:r>
            <a:br>
              <a:rPr lang="de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de" sz="1000">
                <a:solidFill>
                  <a:schemeClr val="dk1"/>
                </a:solidFill>
              </a:rPr>
              <a:t>Online-Shop-Umsatz ~ USD 26 Mio / €23–24 Mio 2024 </a:t>
            </a:r>
            <a:br>
              <a:rPr lang="de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de" sz="1000">
                <a:solidFill>
                  <a:schemeClr val="dk1"/>
                </a:solidFill>
              </a:rPr>
              <a:t>Online-Geschäft stark wachsend, steile Digitalkurve</a:t>
            </a:r>
            <a:br>
              <a:rPr lang="de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●"/>
            </a:pPr>
            <a:r>
              <a:rPr lang="de" sz="1000">
                <a:solidFill>
                  <a:schemeClr val="dk1"/>
                </a:solidFill>
              </a:rPr>
              <a:t>Entscheidende Stakeholder: Head of E-Commerce, CTO, CFO, Digitalverantwortliche</a:t>
            </a:r>
            <a:br>
              <a:rPr lang="de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900"/>
              <a:buChar char="●"/>
            </a:pPr>
            <a:r>
              <a:rPr lang="de" sz="1000">
                <a:solidFill>
                  <a:srgbClr val="FF0000"/>
                </a:solidFill>
              </a:rPr>
              <a:t>Match mit Mollie: Innovationskultur + Expansionsbedarf + Zahlungsbedarf über EU hinweg</a:t>
            </a:r>
            <a:br>
              <a:rPr lang="de" sz="1000">
                <a:solidFill>
                  <a:srgbClr val="FF0000"/>
                </a:solidFill>
              </a:rPr>
            </a:br>
            <a:endParaRPr sz="1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de" sz="2000">
                <a:solidFill>
                  <a:srgbClr val="FF0000"/>
                </a:solidFill>
              </a:rPr>
              <a:t>Pain Points &amp; Mollie-Mehrwert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438125"/>
            <a:ext cx="2175600" cy="355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000">
                <a:solidFill>
                  <a:srgbClr val="FF0000"/>
                </a:solidFill>
              </a:rPr>
              <a:t>#</a:t>
            </a:r>
            <a:br>
              <a:rPr b="1" lang="de" sz="1000">
                <a:solidFill>
                  <a:srgbClr val="FF0000"/>
                </a:solidFill>
              </a:rPr>
            </a:br>
            <a:br>
              <a:rPr b="1" lang="de" sz="1000">
                <a:solidFill>
                  <a:srgbClr val="FF0000"/>
                </a:solidFill>
              </a:rPr>
            </a:br>
            <a:r>
              <a:rPr lang="de" sz="1000">
                <a:solidFill>
                  <a:srgbClr val="FF0000"/>
                </a:solidFill>
              </a:rPr>
              <a:t>Fehlende Zahlungsarten → Checkout-Abbruchrate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000">
                <a:solidFill>
                  <a:srgbClr val="FF0000"/>
                </a:solidFill>
              </a:rPr>
              <a:t>Aufwendige Refunds &amp; Retourprozesse</a:t>
            </a:r>
            <a:br>
              <a:rPr lang="de" sz="1000">
                <a:solidFill>
                  <a:srgbClr val="FF0000"/>
                </a:solidFill>
              </a:rPr>
            </a:br>
            <a:br>
              <a:rPr lang="de" sz="1000">
                <a:solidFill>
                  <a:srgbClr val="FF0000"/>
                </a:solidFill>
              </a:rPr>
            </a:br>
            <a:r>
              <a:rPr lang="de" sz="1000">
                <a:solidFill>
                  <a:srgbClr val="FF0000"/>
                </a:solidFill>
              </a:rPr>
              <a:t>Saisonale Schwankungen (z. B. Oktoberfest, Weihnachten)</a:t>
            </a:r>
            <a:br>
              <a:rPr lang="de" sz="1000">
                <a:solidFill>
                  <a:srgbClr val="FF0000"/>
                </a:solidFill>
              </a:rPr>
            </a:br>
            <a:br>
              <a:rPr lang="de" sz="1000">
                <a:solidFill>
                  <a:srgbClr val="FF0000"/>
                </a:solidFill>
              </a:rPr>
            </a:br>
            <a:r>
              <a:rPr lang="de" sz="1000">
                <a:solidFill>
                  <a:srgbClr val="FF0000"/>
                </a:solidFill>
              </a:rPr>
              <a:t>Fragmentierte PSP-Landschaft &amp; Komplexität bei mehreren Verträgen</a:t>
            </a:r>
            <a:br>
              <a:rPr lang="de" sz="1000">
                <a:solidFill>
                  <a:srgbClr val="FF0000"/>
                </a:solidFill>
              </a:rPr>
            </a:br>
            <a:br>
              <a:rPr lang="de" sz="1000">
                <a:solidFill>
                  <a:srgbClr val="FF0000"/>
                </a:solidFill>
              </a:rPr>
            </a:br>
            <a:r>
              <a:rPr lang="de" sz="1000">
                <a:solidFill>
                  <a:srgbClr val="FF0000"/>
                </a:solidFill>
              </a:rPr>
              <a:t>Skalierungsrisiken bei EU-Erweiterung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000">
              <a:solidFill>
                <a:srgbClr val="FF0000"/>
              </a:solidFill>
            </a:endParaRPr>
          </a:p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6295475" y="1438125"/>
            <a:ext cx="2536800" cy="355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200">
                <a:solidFill>
                  <a:srgbClr val="FF0000"/>
                </a:solidFill>
              </a:rPr>
              <a:t>Mollie - Mehrwerte</a:t>
            </a:r>
            <a:br>
              <a:rPr b="1" lang="de" sz="1200">
                <a:solidFill>
                  <a:srgbClr val="FF0000"/>
                </a:solidFill>
              </a:rPr>
            </a:br>
            <a:br>
              <a:rPr b="1" lang="de" sz="1200">
                <a:solidFill>
                  <a:srgbClr val="FF0000"/>
                </a:solidFill>
              </a:rPr>
            </a:br>
            <a:r>
              <a:rPr lang="de" sz="1000">
                <a:solidFill>
                  <a:srgbClr val="FF0000"/>
                </a:solidFill>
              </a:rPr>
              <a:t>Eine Plattform – alle Zahlarten: 35+ Payment-Methoden, eine Integration, ein Vertrag</a:t>
            </a:r>
            <a:br>
              <a:rPr lang="de" sz="1000">
                <a:solidFill>
                  <a:srgbClr val="FF0000"/>
                </a:solidFill>
              </a:rPr>
            </a:br>
            <a:br>
              <a:rPr lang="de" sz="1000">
                <a:solidFill>
                  <a:srgbClr val="FF0000"/>
                </a:solidFill>
              </a:rPr>
            </a:br>
            <a:r>
              <a:rPr lang="de" sz="1000">
                <a:solidFill>
                  <a:srgbClr val="FF0000"/>
                </a:solidFill>
              </a:rPr>
              <a:t>Bessere Conversion: Checkout-Optimierung mit Apple Pay, Klarna, iDEAL &amp; Co.</a:t>
            </a:r>
            <a:br>
              <a:rPr lang="de" sz="1000">
                <a:solidFill>
                  <a:srgbClr val="FF0000"/>
                </a:solidFill>
              </a:rPr>
            </a:br>
            <a:br>
              <a:rPr lang="de" sz="1000">
                <a:solidFill>
                  <a:srgbClr val="FF0000"/>
                </a:solidFill>
              </a:rPr>
            </a:br>
            <a:r>
              <a:rPr lang="de" sz="1000">
                <a:solidFill>
                  <a:srgbClr val="FF0000"/>
                </a:solidFill>
              </a:rPr>
              <a:t>Volle Transparenz: Keine Fixkosten, keine versteckten Gebühren</a:t>
            </a:r>
            <a:br>
              <a:rPr lang="de" sz="1000">
                <a:solidFill>
                  <a:srgbClr val="FF0000"/>
                </a:solidFill>
              </a:rPr>
            </a:br>
            <a:br>
              <a:rPr lang="de" sz="1000">
                <a:solidFill>
                  <a:srgbClr val="FF0000"/>
                </a:solidFill>
              </a:rPr>
            </a:br>
            <a:r>
              <a:rPr lang="de" sz="1000">
                <a:solidFill>
                  <a:srgbClr val="FF0000"/>
                </a:solidFill>
              </a:rPr>
              <a:t>Omnichannel ready: Online + In-Person Payments über dieselbe Oberfläche</a:t>
            </a:r>
            <a:br>
              <a:rPr lang="de" sz="1000">
                <a:solidFill>
                  <a:srgbClr val="FF0000"/>
                </a:solidFill>
              </a:rPr>
            </a:br>
            <a:br>
              <a:rPr lang="de" sz="1000">
                <a:solidFill>
                  <a:srgbClr val="FF0000"/>
                </a:solidFill>
              </a:rPr>
            </a:br>
            <a:r>
              <a:rPr lang="de" sz="1000">
                <a:solidFill>
                  <a:srgbClr val="FF0000"/>
                </a:solidFill>
              </a:rPr>
              <a:t>Echtzeit-Reporting: Einheitliches Dashboard, Refund-Automation, Insights für CFO &amp; E-Com</a:t>
            </a:r>
            <a:br>
              <a:rPr lang="de" sz="1000">
                <a:solidFill>
                  <a:srgbClr val="FF0000"/>
                </a:solidFill>
              </a:rPr>
            </a:br>
            <a:br>
              <a:rPr lang="de" sz="1000">
                <a:solidFill>
                  <a:srgbClr val="FF0000"/>
                </a:solidFill>
              </a:rPr>
            </a:br>
            <a:r>
              <a:rPr lang="de" sz="1000">
                <a:solidFill>
                  <a:srgbClr val="FF0000"/>
                </a:solidFill>
              </a:rPr>
              <a:t>Schnelle Integration: Plug-&amp;-Play mit OXID eSales, niedriger IT-Aufwand</a:t>
            </a:r>
            <a:br>
              <a:rPr lang="de" sz="1000">
                <a:solidFill>
                  <a:srgbClr val="FF0000"/>
                </a:solidFill>
              </a:rPr>
            </a:br>
            <a:endParaRPr sz="1000">
              <a:solidFill>
                <a:srgbClr val="FF0000"/>
              </a:solidFill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2656800" y="1438125"/>
            <a:ext cx="3403800" cy="355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000">
                <a:solidFill>
                  <a:srgbClr val="FF0000"/>
                </a:solidFill>
              </a:rPr>
              <a:t>Lodenfrey - Pain Points </a:t>
            </a:r>
            <a:br>
              <a:rPr b="1" lang="de" sz="1000">
                <a:solidFill>
                  <a:srgbClr val="FF0000"/>
                </a:solidFill>
              </a:rPr>
            </a:br>
            <a:br>
              <a:rPr b="1" lang="de" sz="1000">
                <a:solidFill>
                  <a:srgbClr val="FF0000"/>
                </a:solidFill>
              </a:rPr>
            </a:br>
            <a:r>
              <a:rPr lang="de" sz="1000">
                <a:solidFill>
                  <a:srgbClr val="FF0000"/>
                </a:solidFill>
              </a:rPr>
              <a:t>Kund:innen brechen Kauf ab, wenn bevorzugte Zahlungsart fehlt → direkte Umsatzverluste &amp; Conversion-Drop.</a:t>
            </a:r>
            <a:br>
              <a:rPr lang="de" sz="1000">
                <a:solidFill>
                  <a:srgbClr val="FF0000"/>
                </a:solidFill>
              </a:rPr>
            </a:br>
            <a:br>
              <a:rPr lang="de" sz="1000">
                <a:solidFill>
                  <a:srgbClr val="FF0000"/>
                </a:solidFill>
              </a:rPr>
            </a:br>
            <a:r>
              <a:rPr lang="de" sz="1000">
                <a:solidFill>
                  <a:srgbClr val="FF0000"/>
                </a:solidFill>
              </a:rPr>
              <a:t>Manuelle Rückerstattungen verursachen hohen Personal- und Zeitaufwand → steigende Servicekosten &amp; Kundenzufriedenheit sinkt.</a:t>
            </a:r>
            <a:br>
              <a:rPr lang="de" sz="1000">
                <a:solidFill>
                  <a:srgbClr val="FF0000"/>
                </a:solidFill>
              </a:rPr>
            </a:br>
            <a:br>
              <a:rPr lang="de" sz="1000">
                <a:solidFill>
                  <a:srgbClr val="FF0000"/>
                </a:solidFill>
              </a:rPr>
            </a:br>
            <a:r>
              <a:rPr lang="de" sz="1000">
                <a:solidFill>
                  <a:srgbClr val="FF0000"/>
                </a:solidFill>
              </a:rPr>
              <a:t>Lastspitzen führen zu Systembelastungen und Abwicklungsfehlern → Risiko von Transaktionsausfällen &amp; Reputationsschäden.</a:t>
            </a:r>
            <a:br>
              <a:rPr lang="de" sz="1000">
                <a:solidFill>
                  <a:srgbClr val="FF0000"/>
                </a:solidFill>
              </a:rPr>
            </a:br>
            <a:br>
              <a:rPr lang="de" sz="1000">
                <a:solidFill>
                  <a:srgbClr val="FF0000"/>
                </a:solidFill>
              </a:rPr>
            </a:br>
            <a:r>
              <a:rPr lang="de" sz="1000">
                <a:solidFill>
                  <a:srgbClr val="FF0000"/>
                </a:solidFill>
              </a:rPr>
              <a:t>Hoher Abstimmungs- und Reportingaufwand → keine zentrale Transparenz über Gebühren, Refunds und Zahlarten.</a:t>
            </a:r>
            <a:br>
              <a:rPr lang="de" sz="1000">
                <a:solidFill>
                  <a:srgbClr val="FF0000"/>
                </a:solidFill>
              </a:rPr>
            </a:br>
            <a:br>
              <a:rPr lang="de" sz="1000">
                <a:solidFill>
                  <a:srgbClr val="FF0000"/>
                </a:solidFill>
              </a:rPr>
            </a:br>
            <a:r>
              <a:rPr lang="de" sz="1000">
                <a:solidFill>
                  <a:srgbClr val="FF0000"/>
                </a:solidFill>
              </a:rPr>
              <a:t>Unterschiedliche Zahlungsmethoden (z. B. iDEAL, Bancontact) &amp; Währungsanforderungen erschweren Wachstum in EU-Märkten.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63075" y="36430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de" sz="1800">
                <a:solidFill>
                  <a:srgbClr val="FF0000"/>
                </a:solidFill>
              </a:rPr>
              <a:t>Outreach Strategy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82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000">
                <a:solidFill>
                  <a:srgbClr val="FF0000"/>
                </a:solidFill>
              </a:rPr>
              <a:t>Research &amp; Triggeranalyse:</a:t>
            </a:r>
            <a:r>
              <a:rPr lang="de" sz="1000">
                <a:solidFill>
                  <a:srgbClr val="FF0000"/>
                </a:solidFill>
              </a:rPr>
              <a:t> Website-, Social- &amp; Tech-Recherche, Identifizierung gemeinsamer Kontakte</a:t>
            </a:r>
            <a:br>
              <a:rPr lang="de" sz="1000">
                <a:solidFill>
                  <a:srgbClr val="FF0000"/>
                </a:solidFill>
              </a:rPr>
            </a:br>
            <a:br>
              <a:rPr lang="de" sz="1000">
                <a:solidFill>
                  <a:srgbClr val="FF0000"/>
                </a:solidFill>
              </a:rPr>
            </a:br>
            <a:r>
              <a:rPr b="1" lang="de" sz="1000">
                <a:solidFill>
                  <a:srgbClr val="FF0000"/>
                </a:solidFill>
              </a:rPr>
              <a:t>Multi-Touch Outreach (5–7 Steps):</a:t>
            </a:r>
            <a:endParaRPr b="1" sz="1000">
              <a:solidFill>
                <a:srgbClr val="FF0000"/>
              </a:solidFill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000"/>
              <a:buChar char="○"/>
            </a:pPr>
            <a:r>
              <a:rPr lang="de" sz="1000">
                <a:solidFill>
                  <a:srgbClr val="FF0000"/>
                </a:solidFill>
              </a:rPr>
              <a:t>Social Engagement (Kommentare, Likes)</a:t>
            </a:r>
            <a:br>
              <a:rPr lang="de" sz="1000">
                <a:solidFill>
                  <a:srgbClr val="FF0000"/>
                </a:solidFill>
              </a:rPr>
            </a:br>
            <a:endParaRPr sz="1000">
              <a:solidFill>
                <a:srgbClr val="FF0000"/>
              </a:solidFill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Char char="○"/>
            </a:pPr>
            <a:r>
              <a:rPr lang="de" sz="1000">
                <a:solidFill>
                  <a:srgbClr val="FF0000"/>
                </a:solidFill>
              </a:rPr>
              <a:t>LinkedIn Connect + personalisierte Nachricht</a:t>
            </a:r>
            <a:br>
              <a:rPr lang="de" sz="1000">
                <a:solidFill>
                  <a:srgbClr val="FF0000"/>
                </a:solidFill>
              </a:rPr>
            </a:br>
            <a:endParaRPr sz="1000">
              <a:solidFill>
                <a:srgbClr val="FF0000"/>
              </a:solidFill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Char char="○"/>
            </a:pPr>
            <a:r>
              <a:rPr lang="de" sz="1000">
                <a:solidFill>
                  <a:srgbClr val="FF0000"/>
                </a:solidFill>
              </a:rPr>
              <a:t>E-Mail mit Mehrwert-Frage zur Payment-Zufriedenheit</a:t>
            </a:r>
            <a:br>
              <a:rPr lang="de" sz="1000">
                <a:solidFill>
                  <a:srgbClr val="FF0000"/>
                </a:solidFill>
              </a:rPr>
            </a:br>
            <a:endParaRPr sz="1000">
              <a:solidFill>
                <a:srgbClr val="FF0000"/>
              </a:solidFill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Char char="○"/>
            </a:pPr>
            <a:r>
              <a:rPr lang="de" sz="1000">
                <a:solidFill>
                  <a:srgbClr val="FF0000"/>
                </a:solidFill>
              </a:rPr>
              <a:t>Insight-Sharing (Benchmark / Whitepaper)</a:t>
            </a:r>
            <a:br>
              <a:rPr lang="de" sz="1000">
                <a:solidFill>
                  <a:srgbClr val="FF0000"/>
                </a:solidFill>
              </a:rPr>
            </a:br>
            <a:endParaRPr sz="1000">
              <a:solidFill>
                <a:srgbClr val="FF0000"/>
              </a:solidFill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Char char="○"/>
            </a:pPr>
            <a:r>
              <a:rPr lang="de" sz="1000">
                <a:solidFill>
                  <a:srgbClr val="FF0000"/>
                </a:solidFill>
              </a:rPr>
              <a:t>Value Follow-Up (Event, Mini-Audit)</a:t>
            </a:r>
            <a:br>
              <a:rPr lang="de" sz="1000">
                <a:solidFill>
                  <a:srgbClr val="FF0000"/>
                </a:solidFill>
              </a:rPr>
            </a:br>
            <a:endParaRPr sz="1000">
              <a:solidFill>
                <a:srgbClr val="FF0000"/>
              </a:solidFill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Char char="○"/>
            </a:pPr>
            <a:r>
              <a:rPr lang="de" sz="1000">
                <a:solidFill>
                  <a:srgbClr val="FF0000"/>
                </a:solidFill>
              </a:rPr>
              <a:t>Event / Netzwerk-Ansprache</a:t>
            </a:r>
            <a:br>
              <a:rPr lang="de" sz="1000">
                <a:solidFill>
                  <a:srgbClr val="FF0000"/>
                </a:solidFill>
              </a:rPr>
            </a:br>
            <a:endParaRPr sz="1000">
              <a:solidFill>
                <a:srgbClr val="FF0000"/>
              </a:solidFill>
            </a:endParaRPr>
          </a:p>
          <a:p>
            <a:pPr indent="-2921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Char char="○"/>
            </a:pPr>
            <a:r>
              <a:rPr lang="de" sz="1000">
                <a:solidFill>
                  <a:srgbClr val="FF0000"/>
                </a:solidFill>
              </a:rPr>
              <a:t>Direct Call / Referral</a:t>
            </a:r>
            <a:br>
              <a:rPr lang="de" sz="1000">
                <a:solidFill>
                  <a:srgbClr val="FF0000"/>
                </a:solidFill>
              </a:rPr>
            </a:br>
            <a:endParaRPr sz="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000">
                <a:solidFill>
                  <a:srgbClr val="FF0000"/>
                </a:solidFill>
              </a:rPr>
              <a:t>Blocker &amp; Umgang:</a:t>
            </a:r>
            <a:r>
              <a:rPr lang="de" sz="1000">
                <a:solidFill>
                  <a:srgbClr val="FF0000"/>
                </a:solidFill>
              </a:rPr>
              <a:t> „Kein Budget“, „Wir sind zufrieden“, „Timing“ → vorbereitete Antworten mit Mehrwertfokus</a:t>
            </a:r>
            <a:br>
              <a:rPr lang="de" sz="1000">
                <a:solidFill>
                  <a:srgbClr val="FF0000"/>
                </a:solidFill>
              </a:rPr>
            </a:br>
            <a:br>
              <a:rPr lang="de" sz="1000">
                <a:solidFill>
                  <a:srgbClr val="FF0000"/>
                </a:solidFill>
              </a:rPr>
            </a:br>
            <a:r>
              <a:rPr b="1" lang="de" sz="1000">
                <a:solidFill>
                  <a:srgbClr val="FF0000"/>
                </a:solidFill>
              </a:rPr>
              <a:t>Creative Touches:</a:t>
            </a:r>
            <a:r>
              <a:rPr lang="de" sz="1000">
                <a:solidFill>
                  <a:srgbClr val="FF0000"/>
                </a:solidFill>
              </a:rPr>
              <a:t> Mini-Video, Payment-Friction-Check, Co-Marketing-Angebot</a:t>
            </a:r>
            <a:br>
              <a:rPr lang="de" sz="1000">
                <a:solidFill>
                  <a:srgbClr val="FF0000"/>
                </a:solidFill>
              </a:rPr>
            </a:br>
            <a:br>
              <a:rPr lang="de" sz="1000">
                <a:solidFill>
                  <a:srgbClr val="FF0000"/>
                </a:solidFill>
              </a:rPr>
            </a:br>
            <a:r>
              <a:rPr b="1" lang="de" sz="1000">
                <a:solidFill>
                  <a:srgbClr val="FF0000"/>
                </a:solidFill>
              </a:rPr>
              <a:t>Ziel:</a:t>
            </a:r>
            <a:r>
              <a:rPr lang="de" sz="1000">
                <a:solidFill>
                  <a:srgbClr val="FF0000"/>
                </a:solidFill>
              </a:rPr>
              <a:t> Discovery-Call mit relevanten Stakeholdern (Head of E-Commerce, CFO)</a:t>
            </a:r>
            <a:br>
              <a:rPr lang="de" sz="1000">
                <a:solidFill>
                  <a:srgbClr val="FF0000"/>
                </a:solidFill>
              </a:rPr>
            </a:br>
            <a:endParaRPr sz="1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66375" y="1555525"/>
            <a:ext cx="15624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100">
                <a:solidFill>
                  <a:srgbClr val="FF0000"/>
                </a:solidFill>
              </a:rPr>
              <a:t>Rolle / Funktion</a:t>
            </a:r>
            <a:endParaRPr b="1" sz="1200">
              <a:solidFill>
                <a:srgbClr val="FF0000"/>
              </a:solidFill>
            </a:endParaRP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66398" y="2068782"/>
            <a:ext cx="1562400" cy="28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>
                <a:solidFill>
                  <a:srgbClr val="FF0000"/>
                </a:solidFill>
              </a:rPr>
              <a:t>Head of E-Commerce / Digital Lead</a:t>
            </a:r>
            <a:br>
              <a:rPr lang="de" sz="1000">
                <a:solidFill>
                  <a:srgbClr val="FF0000"/>
                </a:solidFill>
              </a:rPr>
            </a:br>
            <a:br>
              <a:rPr lang="de" sz="1000">
                <a:solidFill>
                  <a:srgbClr val="FF0000"/>
                </a:solidFill>
              </a:rPr>
            </a:br>
            <a:r>
              <a:rPr lang="de" sz="1000">
                <a:solidFill>
                  <a:srgbClr val="FF0000"/>
                </a:solidFill>
              </a:rPr>
              <a:t>CFO / Head of Finance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>
                <a:solidFill>
                  <a:srgbClr val="FF0000"/>
                </a:solidFill>
              </a:rPr>
              <a:t>CTO / Head of IT</a:t>
            </a:r>
            <a:br>
              <a:rPr lang="de" sz="1000">
                <a:solidFill>
                  <a:srgbClr val="FF0000"/>
                </a:solidFill>
              </a:rPr>
            </a:br>
            <a:br>
              <a:rPr lang="de" sz="1000">
                <a:solidFill>
                  <a:srgbClr val="FF0000"/>
                </a:solidFill>
              </a:rPr>
            </a:br>
            <a:r>
              <a:rPr lang="de" sz="1000">
                <a:solidFill>
                  <a:srgbClr val="FF0000"/>
                </a:solidFill>
              </a:rPr>
              <a:t>Einkauf / Operations</a:t>
            </a:r>
            <a:br>
              <a:rPr lang="de" sz="1000">
                <a:solidFill>
                  <a:srgbClr val="FF0000"/>
                </a:solidFill>
              </a:rPr>
            </a:br>
            <a:br>
              <a:rPr lang="de" sz="1000">
                <a:solidFill>
                  <a:srgbClr val="FF0000"/>
                </a:solidFill>
              </a:rPr>
            </a:br>
            <a:r>
              <a:rPr lang="de" sz="1000">
                <a:solidFill>
                  <a:srgbClr val="FF0000"/>
                </a:solidFill>
              </a:rPr>
              <a:t>CEO / Geschäftsführung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88" name="Google Shape;88;p18"/>
          <p:cNvSpPr txBox="1"/>
          <p:nvPr>
            <p:ph type="title"/>
          </p:nvPr>
        </p:nvSpPr>
        <p:spPr>
          <a:xfrm>
            <a:off x="2043200" y="1555525"/>
            <a:ext cx="15624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100">
                <a:solidFill>
                  <a:srgbClr val="FF0000"/>
                </a:solidFill>
              </a:rPr>
              <a:t>Fokusbereich</a:t>
            </a:r>
            <a:endParaRPr b="1" sz="1200">
              <a:solidFill>
                <a:srgbClr val="FF0000"/>
              </a:solidFill>
            </a:endParaRPr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2043212" y="2068645"/>
            <a:ext cx="1562400" cy="28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>
                <a:solidFill>
                  <a:srgbClr val="FF0000"/>
                </a:solidFill>
              </a:rPr>
              <a:t>Online-Umsatz, UX, Payment</a:t>
            </a:r>
            <a:r>
              <a:rPr lang="de" sz="1000">
                <a:solidFill>
                  <a:srgbClr val="FF0000"/>
                </a:solidFill>
              </a:rPr>
              <a:t>-</a:t>
            </a:r>
            <a:r>
              <a:rPr lang="de" sz="1000">
                <a:solidFill>
                  <a:srgbClr val="FF0000"/>
                </a:solidFill>
              </a:rPr>
              <a:t>Performance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000">
                <a:solidFill>
                  <a:srgbClr val="FF0000"/>
                </a:solidFill>
              </a:rPr>
              <a:t>Kosten, Gebühren, Risiko, Abrechnung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000">
                <a:solidFill>
                  <a:srgbClr val="FF0000"/>
                </a:solidFill>
              </a:rPr>
              <a:t>Infrastruktur, Integration, Security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000">
                <a:solidFill>
                  <a:srgbClr val="FF0000"/>
                </a:solidFill>
              </a:rPr>
              <a:t>Prozess- &amp; Refund-Handling</a:t>
            </a:r>
            <a:br>
              <a:rPr lang="de" sz="1000">
                <a:solidFill>
                  <a:srgbClr val="FF0000"/>
                </a:solidFill>
              </a:rPr>
            </a:br>
            <a:br>
              <a:rPr lang="de" sz="1000">
                <a:solidFill>
                  <a:srgbClr val="FF0000"/>
                </a:solidFill>
              </a:rPr>
            </a:br>
            <a:r>
              <a:rPr lang="de" sz="1000">
                <a:solidFill>
                  <a:srgbClr val="FF0000"/>
                </a:solidFill>
              </a:rPr>
              <a:t>Markenreputation, strategische Expansion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90" name="Google Shape;90;p18"/>
          <p:cNvSpPr txBox="1"/>
          <p:nvPr>
            <p:ph type="title"/>
          </p:nvPr>
        </p:nvSpPr>
        <p:spPr>
          <a:xfrm>
            <a:off x="3720025" y="1555525"/>
            <a:ext cx="15624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100">
                <a:solidFill>
                  <a:srgbClr val="FF0000"/>
                </a:solidFill>
              </a:rPr>
              <a:t>Relevanz</a:t>
            </a:r>
            <a:endParaRPr b="1" sz="1200">
              <a:solidFill>
                <a:srgbClr val="FF0000"/>
              </a:solidFill>
            </a:endParaRPr>
          </a:p>
        </p:txBody>
      </p:sp>
      <p:sp>
        <p:nvSpPr>
          <p:cNvPr id="91" name="Google Shape;91;p18"/>
          <p:cNvSpPr txBox="1"/>
          <p:nvPr>
            <p:ph idx="1" type="body"/>
          </p:nvPr>
        </p:nvSpPr>
        <p:spPr>
          <a:xfrm>
            <a:off x="3719956" y="2068781"/>
            <a:ext cx="1562400" cy="28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>
                <a:solidFill>
                  <a:srgbClr val="FF0000"/>
                </a:solidFill>
              </a:rPr>
              <a:t>Haupttreiber &amp; Gatekeeper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000">
                <a:solidFill>
                  <a:srgbClr val="FF0000"/>
                </a:solidFill>
              </a:rPr>
              <a:t>Entscheider (Budget)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000">
                <a:solidFill>
                  <a:srgbClr val="FF0000"/>
                </a:solidFill>
              </a:rPr>
              <a:t>Mittel</a:t>
            </a:r>
            <a:br>
              <a:rPr lang="de" sz="1000">
                <a:solidFill>
                  <a:srgbClr val="FF0000"/>
                </a:solidFill>
              </a:rPr>
            </a:br>
            <a:br>
              <a:rPr lang="de" sz="1000">
                <a:solidFill>
                  <a:srgbClr val="FF0000"/>
                </a:solidFill>
              </a:rPr>
            </a:br>
            <a:r>
              <a:rPr lang="de" sz="1000">
                <a:solidFill>
                  <a:srgbClr val="FF0000"/>
                </a:solidFill>
              </a:rPr>
              <a:t>Unterstützer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000">
                <a:solidFill>
                  <a:srgbClr val="FF0000"/>
                </a:solidFill>
              </a:rPr>
              <a:t>Sponsor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92" name="Google Shape;92;p18"/>
          <p:cNvSpPr txBox="1"/>
          <p:nvPr>
            <p:ph type="title"/>
          </p:nvPr>
        </p:nvSpPr>
        <p:spPr>
          <a:xfrm>
            <a:off x="366375" y="459700"/>
            <a:ext cx="8836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800">
                <a:solidFill>
                  <a:srgbClr val="FF0000"/>
                </a:solidFill>
              </a:rPr>
              <a:t>Stakeholder Mapping</a:t>
            </a:r>
            <a:endParaRPr b="1" sz="1800">
              <a:solidFill>
                <a:srgbClr val="FF0000"/>
              </a:solidFill>
            </a:endParaRPr>
          </a:p>
        </p:txBody>
      </p:sp>
      <p:sp>
        <p:nvSpPr>
          <p:cNvPr id="93" name="Google Shape;93;p18"/>
          <p:cNvSpPr txBox="1"/>
          <p:nvPr>
            <p:ph type="title"/>
          </p:nvPr>
        </p:nvSpPr>
        <p:spPr>
          <a:xfrm>
            <a:off x="5396878" y="1555525"/>
            <a:ext cx="15624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100">
                <a:solidFill>
                  <a:srgbClr val="FF0000"/>
                </a:solidFill>
              </a:rPr>
              <a:t>Priorität im Outreach</a:t>
            </a:r>
            <a:endParaRPr b="1" sz="1200">
              <a:solidFill>
                <a:srgbClr val="FF0000"/>
              </a:solidFill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5396464" y="2068781"/>
            <a:ext cx="1562400" cy="28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000">
                <a:solidFill>
                  <a:srgbClr val="FF0000"/>
                </a:solidFill>
              </a:rPr>
              <a:t>Hoch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000">
                <a:solidFill>
                  <a:srgbClr val="FF0000"/>
                </a:solidFill>
              </a:rPr>
              <a:t>Hoch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000">
                <a:solidFill>
                  <a:srgbClr val="FF0000"/>
                </a:solidFill>
              </a:rPr>
              <a:t>Mittel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000">
                <a:solidFill>
                  <a:srgbClr val="FF0000"/>
                </a:solidFill>
              </a:rPr>
              <a:t>Mittel</a:t>
            </a:r>
            <a:br>
              <a:rPr lang="de" sz="1000">
                <a:solidFill>
                  <a:srgbClr val="FF0000"/>
                </a:solidFill>
              </a:rPr>
            </a:br>
            <a:br>
              <a:rPr lang="de" sz="1000">
                <a:solidFill>
                  <a:srgbClr val="FF0000"/>
                </a:solidFill>
              </a:rPr>
            </a:br>
            <a:r>
              <a:rPr lang="de" sz="1000">
                <a:solidFill>
                  <a:srgbClr val="FF0000"/>
                </a:solidFill>
              </a:rPr>
              <a:t>Niedriger initial, wichtig später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0000"/>
              </a:solidFill>
            </a:endParaRPr>
          </a:p>
        </p:txBody>
      </p:sp>
      <p:sp>
        <p:nvSpPr>
          <p:cNvPr id="95" name="Google Shape;95;p18"/>
          <p:cNvSpPr txBox="1"/>
          <p:nvPr>
            <p:ph type="title"/>
          </p:nvPr>
        </p:nvSpPr>
        <p:spPr>
          <a:xfrm>
            <a:off x="7073703" y="1555525"/>
            <a:ext cx="1562400" cy="5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100">
                <a:solidFill>
                  <a:srgbClr val="FF0000"/>
                </a:solidFill>
              </a:rPr>
              <a:t>Schwerpunkt</a:t>
            </a:r>
            <a:endParaRPr b="1" sz="1200">
              <a:solidFill>
                <a:srgbClr val="FF0000"/>
              </a:solidFill>
            </a:endParaRPr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7073724" y="2068781"/>
            <a:ext cx="1562400" cy="281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000">
                <a:solidFill>
                  <a:srgbClr val="FF0000"/>
                </a:solidFill>
              </a:rPr>
              <a:t>Conversion, Customer Journey, Integration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000">
                <a:solidFill>
                  <a:srgbClr val="FF0000"/>
                </a:solidFill>
              </a:rPr>
              <a:t>ROI, Gebührenmodell, Transparenz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000">
                <a:solidFill>
                  <a:srgbClr val="FF0000"/>
                </a:solidFill>
              </a:rPr>
              <a:t>API, Stabilität, technischer Aufwand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>
                <a:solidFill>
                  <a:srgbClr val="FF0000"/>
                </a:solidFill>
              </a:rPr>
              <a:t>Refunds, Prozessvereinfachung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000">
                <a:solidFill>
                  <a:srgbClr val="FF0000"/>
                </a:solidFill>
              </a:rPr>
              <a:t>Customer Experience, Brand Consistency</a:t>
            </a:r>
            <a:endParaRPr sz="1000">
              <a:solidFill>
                <a:srgbClr val="FF00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63075" y="371650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800"/>
              <a:t>LinkedIn Message Draft</a:t>
            </a:r>
            <a:endParaRPr b="1" sz="1800"/>
          </a:p>
        </p:txBody>
      </p:sp>
      <p:sp>
        <p:nvSpPr>
          <p:cNvPr id="102" name="Google Shape;102;p19"/>
          <p:cNvSpPr txBox="1"/>
          <p:nvPr>
            <p:ph idx="4294967295" type="body"/>
          </p:nvPr>
        </p:nvSpPr>
        <p:spPr>
          <a:xfrm>
            <a:off x="311700" y="1152475"/>
            <a:ext cx="8520600" cy="374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de" sz="800">
                <a:solidFill>
                  <a:schemeClr val="dk1"/>
                </a:solidFill>
              </a:rPr>
              <a:t>    Ziel: Head of E-Commerce / Chief Digital Officer</a:t>
            </a:r>
            <a:endParaRPr b="1" sz="800">
              <a:solidFill>
                <a:schemeClr val="dk1"/>
              </a:solidFill>
            </a:endParaRPr>
          </a:p>
          <a:p>
            <a:pPr indent="0" lvl="0" marL="1397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br>
              <a:rPr b="1" lang="de" sz="800">
                <a:solidFill>
                  <a:srgbClr val="0E0E0E"/>
                </a:solidFill>
              </a:rPr>
            </a:br>
            <a:r>
              <a:rPr b="1" lang="de" sz="800">
                <a:solidFill>
                  <a:srgbClr val="0E0E0E"/>
                </a:solidFill>
              </a:rPr>
              <a:t>Hallo Herr Mager,</a:t>
            </a:r>
            <a:endParaRPr b="1" sz="800">
              <a:solidFill>
                <a:srgbClr val="0E0E0E"/>
              </a:solidFill>
            </a:endParaRPr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E0E0E"/>
              </a:solidFill>
            </a:endParaRPr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0E0E0E"/>
                </a:solidFill>
              </a:rPr>
              <a:t>ich verfolge Lodenfreys digitale Entwicklung schon länger – beeindruckend, wie Sie es schaffen, Premium-Erlebnis und E-Commerce-Wachstum zu verbinden.</a:t>
            </a:r>
            <a:br>
              <a:rPr lang="de" sz="800">
                <a:solidFill>
                  <a:srgbClr val="0E0E0E"/>
                </a:solidFill>
              </a:rPr>
            </a:br>
            <a:endParaRPr sz="800">
              <a:solidFill>
                <a:srgbClr val="0E0E0E"/>
              </a:solidFill>
            </a:endParaRPr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0E0E0E"/>
                </a:solidFill>
              </a:rPr>
              <a:t>Viele Marken im High-End-Fashion-Bereich stehen aktuell vor der gleichen Frage:</a:t>
            </a:r>
            <a:endParaRPr sz="800">
              <a:solidFill>
                <a:srgbClr val="0E0E0E"/>
              </a:solidFill>
            </a:endParaRPr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800">
                <a:solidFill>
                  <a:srgbClr val="0E0E0E"/>
                </a:solidFill>
              </a:rPr>
              <a:t>Wie lassen sich Checkout-Erlebnis und Conversion optimieren, ohne operative Komplexität zu erhöhen?</a:t>
            </a:r>
            <a:endParaRPr b="1" sz="800">
              <a:solidFill>
                <a:srgbClr val="0E0E0E"/>
              </a:solidFill>
            </a:endParaRPr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E0E0E"/>
              </a:solidFill>
            </a:endParaRPr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0E0E0E"/>
                </a:solidFill>
              </a:rPr>
              <a:t>Mich würde interessieren, </a:t>
            </a:r>
            <a:r>
              <a:rPr b="1" lang="de" sz="800">
                <a:solidFill>
                  <a:srgbClr val="0E0E0E"/>
                </a:solidFill>
              </a:rPr>
              <a:t>wie zufrieden Sie aktuell mit Ihrer Payment-Lösung sind</a:t>
            </a:r>
            <a:r>
              <a:rPr lang="de" sz="800">
                <a:solidFill>
                  <a:srgbClr val="0E0E0E"/>
                </a:solidFill>
              </a:rPr>
              <a:t> – insbesondere in Bezug auf </a:t>
            </a:r>
            <a:r>
              <a:rPr b="1" lang="de" sz="800">
                <a:solidFill>
                  <a:srgbClr val="0E0E0E"/>
                </a:solidFill>
              </a:rPr>
              <a:t>Kosten, Stabilität und Refund-Prozesse.</a:t>
            </a:r>
            <a:endParaRPr b="1" sz="800">
              <a:solidFill>
                <a:srgbClr val="0E0E0E"/>
              </a:solidFill>
            </a:endParaRPr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E0E0E"/>
              </a:solidFill>
            </a:endParaRPr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0E0E0E"/>
                </a:solidFill>
              </a:rPr>
              <a:t>Bei Mollie unterstützen wir Händler wie </a:t>
            </a:r>
            <a:r>
              <a:rPr b="1" lang="de" sz="800">
                <a:solidFill>
                  <a:srgbClr val="0E0E0E"/>
                </a:solidFill>
              </a:rPr>
              <a:t>Engelhorn, Breuninger oder de Bijenkorf</a:t>
            </a:r>
            <a:r>
              <a:rPr lang="de" sz="800">
                <a:solidFill>
                  <a:srgbClr val="0E0E0E"/>
                </a:solidFill>
              </a:rPr>
              <a:t> genau dabei – mit</a:t>
            </a:r>
            <a:endParaRPr sz="800">
              <a:solidFill>
                <a:srgbClr val="0E0E0E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de" sz="800">
                <a:solidFill>
                  <a:srgbClr val="0E0E0E"/>
                </a:solidFill>
              </a:rPr>
              <a:t>einer Integration für 35+ Zahlungsmethoden</a:t>
            </a:r>
            <a:r>
              <a:rPr lang="de" sz="800">
                <a:solidFill>
                  <a:srgbClr val="0E0E0E"/>
                </a:solidFill>
              </a:rPr>
              <a:t>,</a:t>
            </a:r>
            <a:br>
              <a:rPr lang="de" sz="800">
                <a:solidFill>
                  <a:srgbClr val="0E0E0E"/>
                </a:solidFill>
              </a:rPr>
            </a:br>
            <a:endParaRPr sz="800">
              <a:solidFill>
                <a:srgbClr val="0E0E0E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b="1" lang="de" sz="800">
                <a:solidFill>
                  <a:srgbClr val="0E0E0E"/>
                </a:solidFill>
              </a:rPr>
              <a:t>automatisierten Refunds &amp; Reporting-Dashboard</a:t>
            </a:r>
            <a:r>
              <a:rPr lang="de" sz="800">
                <a:solidFill>
                  <a:srgbClr val="0E0E0E"/>
                </a:solidFill>
              </a:rPr>
              <a:t>,</a:t>
            </a:r>
            <a:br>
              <a:rPr lang="de" sz="800">
                <a:solidFill>
                  <a:srgbClr val="0E0E0E"/>
                </a:solidFill>
              </a:rPr>
            </a:br>
            <a:endParaRPr sz="800">
              <a:solidFill>
                <a:srgbClr val="0E0E0E"/>
              </a:solidFill>
            </a:endParaRPr>
          </a:p>
          <a:p>
            <a:pPr indent="-2794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</a:pPr>
            <a:r>
              <a:rPr lang="de" sz="800">
                <a:solidFill>
                  <a:srgbClr val="0E0E0E"/>
                </a:solidFill>
              </a:rPr>
              <a:t>und </a:t>
            </a:r>
            <a:r>
              <a:rPr b="1" lang="de" sz="800">
                <a:solidFill>
                  <a:srgbClr val="0E0E0E"/>
                </a:solidFill>
              </a:rPr>
              <a:t>klarer Preisstruktur ohne versteckte Gebühren.</a:t>
            </a:r>
            <a:endParaRPr sz="800">
              <a:solidFill>
                <a:srgbClr val="0E0E0E"/>
              </a:solidFill>
            </a:endParaRPr>
          </a:p>
          <a:p>
            <a:pPr indent="0" lvl="0" marL="1397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0E0E0E"/>
                </a:solidFill>
              </a:rPr>
              <a:t>Gern zeige ich Ihnen in einem kurzen 30-Minuten-Gespräch, </a:t>
            </a:r>
            <a:r>
              <a:rPr b="1" lang="de" sz="800">
                <a:solidFill>
                  <a:srgbClr val="0E0E0E"/>
                </a:solidFill>
              </a:rPr>
              <a:t>wie andere Premium-Retailer Payment als Conversion-Hebel nutzen.</a:t>
            </a:r>
            <a:endParaRPr b="1" sz="800">
              <a:solidFill>
                <a:srgbClr val="0E0E0E"/>
              </a:solidFill>
            </a:endParaRPr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E0E0E"/>
              </a:solidFill>
            </a:endParaRPr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0E0E0E"/>
                </a:solidFill>
              </a:rPr>
              <a:t>Wie sieht es bei Ihnen kommende Woche aus?</a:t>
            </a:r>
            <a:br>
              <a:rPr lang="de" sz="800">
                <a:solidFill>
                  <a:srgbClr val="0E0E0E"/>
                </a:solidFill>
              </a:rPr>
            </a:br>
            <a:br>
              <a:rPr lang="de" sz="800">
                <a:solidFill>
                  <a:srgbClr val="0E0E0E"/>
                </a:solidFill>
              </a:rPr>
            </a:br>
            <a:r>
              <a:rPr lang="de" sz="800">
                <a:solidFill>
                  <a:srgbClr val="0E0E0E"/>
                </a:solidFill>
              </a:rPr>
              <a:t>Viele Grüße</a:t>
            </a:r>
            <a:br>
              <a:rPr lang="de" sz="800">
                <a:solidFill>
                  <a:srgbClr val="0E0E0E"/>
                </a:solidFill>
              </a:rPr>
            </a:br>
            <a:r>
              <a:rPr b="1" lang="de" sz="800">
                <a:solidFill>
                  <a:srgbClr val="0E0E0E"/>
                </a:solidFill>
              </a:rPr>
              <a:t>Oleg Kober</a:t>
            </a:r>
            <a:endParaRPr b="1" sz="800">
              <a:solidFill>
                <a:srgbClr val="0E0E0E"/>
              </a:solidFill>
            </a:endParaRPr>
          </a:p>
          <a:p>
            <a:pPr indent="0" lvl="0" marL="1397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800">
                <a:solidFill>
                  <a:srgbClr val="0E0E0E"/>
                </a:solidFill>
              </a:rPr>
              <a:t>Senior Business Development Manager DACH | Mollie</a:t>
            </a:r>
            <a:endParaRPr sz="800">
              <a:solidFill>
                <a:srgbClr val="0E0E0E"/>
              </a:solidFill>
            </a:endParaRPr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rgbClr val="0E0E0E"/>
              </a:solidFill>
            </a:endParaRPr>
          </a:p>
          <a:p>
            <a:pPr indent="0" lvl="0" marL="139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rgbClr val="0E0E0E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idx="4294967295" type="title"/>
          </p:nvPr>
        </p:nvSpPr>
        <p:spPr>
          <a:xfrm>
            <a:off x="3742008" y="1452800"/>
            <a:ext cx="12030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200"/>
              <a:t>Stage</a:t>
            </a:r>
            <a:endParaRPr b="1" sz="1200"/>
          </a:p>
        </p:txBody>
      </p:sp>
      <p:sp>
        <p:nvSpPr>
          <p:cNvPr id="108" name="Google Shape;108;p20"/>
          <p:cNvSpPr txBox="1"/>
          <p:nvPr>
            <p:ph idx="4294967295" type="body"/>
          </p:nvPr>
        </p:nvSpPr>
        <p:spPr>
          <a:xfrm>
            <a:off x="3742018" y="2199853"/>
            <a:ext cx="1203000" cy="24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Prospecting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Discovery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Proposal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Contract Sent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Closed Won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9" name="Google Shape;109;p20"/>
          <p:cNvSpPr txBox="1"/>
          <p:nvPr>
            <p:ph idx="4294967295" type="title"/>
          </p:nvPr>
        </p:nvSpPr>
        <p:spPr>
          <a:xfrm>
            <a:off x="5033494" y="1452800"/>
            <a:ext cx="12030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200"/>
              <a:t>Deals</a:t>
            </a:r>
            <a:endParaRPr b="1" sz="1200"/>
          </a:p>
        </p:txBody>
      </p:sp>
      <p:sp>
        <p:nvSpPr>
          <p:cNvPr id="110" name="Google Shape;110;p20"/>
          <p:cNvSpPr txBox="1"/>
          <p:nvPr>
            <p:ph idx="4294967295" type="body"/>
          </p:nvPr>
        </p:nvSpPr>
        <p:spPr>
          <a:xfrm>
            <a:off x="5033504" y="2199853"/>
            <a:ext cx="1203000" cy="24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15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12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10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2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1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1" name="Google Shape;111;p20"/>
          <p:cNvSpPr txBox="1"/>
          <p:nvPr>
            <p:ph idx="4294967295" type="title"/>
          </p:nvPr>
        </p:nvSpPr>
        <p:spPr>
          <a:xfrm>
            <a:off x="6324980" y="1452800"/>
            <a:ext cx="12030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200"/>
              <a:t>Avg. Age</a:t>
            </a:r>
            <a:endParaRPr b="1" sz="1200"/>
          </a:p>
        </p:txBody>
      </p:sp>
      <p:sp>
        <p:nvSpPr>
          <p:cNvPr id="112" name="Google Shape;112;p20"/>
          <p:cNvSpPr txBox="1"/>
          <p:nvPr>
            <p:ph idx="4294967295" type="body"/>
          </p:nvPr>
        </p:nvSpPr>
        <p:spPr>
          <a:xfrm>
            <a:off x="6324989" y="2199853"/>
            <a:ext cx="1203000" cy="24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12 Tage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28 Tage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41 Tage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38 Tage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-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3" name="Google Shape;113;p20"/>
          <p:cNvSpPr txBox="1"/>
          <p:nvPr>
            <p:ph idx="4294967295" type="title"/>
          </p:nvPr>
        </p:nvSpPr>
        <p:spPr>
          <a:xfrm>
            <a:off x="366400" y="371650"/>
            <a:ext cx="88368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800"/>
              <a:t>Analyse der Pipeline</a:t>
            </a:r>
            <a:endParaRPr b="1" sz="1800"/>
          </a:p>
        </p:txBody>
      </p:sp>
      <p:sp>
        <p:nvSpPr>
          <p:cNvPr id="114" name="Google Shape;114;p20"/>
          <p:cNvSpPr txBox="1"/>
          <p:nvPr>
            <p:ph idx="4294967295" type="title"/>
          </p:nvPr>
        </p:nvSpPr>
        <p:spPr>
          <a:xfrm>
            <a:off x="7616490" y="1452800"/>
            <a:ext cx="12030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200"/>
              <a:t>Avg. Size</a:t>
            </a:r>
            <a:endParaRPr b="1" sz="1200"/>
          </a:p>
        </p:txBody>
      </p:sp>
      <p:sp>
        <p:nvSpPr>
          <p:cNvPr id="115" name="Google Shape;115;p20"/>
          <p:cNvSpPr txBox="1"/>
          <p:nvPr>
            <p:ph idx="4294967295" type="body"/>
          </p:nvPr>
        </p:nvSpPr>
        <p:spPr>
          <a:xfrm>
            <a:off x="7616500" y="2199853"/>
            <a:ext cx="1203000" cy="24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€ 48 K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€ 52 K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€ 57 K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€ 60 K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€ 75 K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16" name="Google Shape;116;p20"/>
          <p:cNvSpPr txBox="1"/>
          <p:nvPr>
            <p:ph idx="4294967295" type="body"/>
          </p:nvPr>
        </p:nvSpPr>
        <p:spPr>
          <a:xfrm>
            <a:off x="366400" y="2199982"/>
            <a:ext cx="3287100" cy="24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1200">
                <a:solidFill>
                  <a:schemeClr val="dk1"/>
                </a:solidFill>
              </a:rPr>
              <a:t>Viele Deals im frühen Funnel, geringe Conversion in spätere Phasen</a:t>
            </a:r>
            <a:br>
              <a:rPr lang="de" sz="1200">
                <a:solidFill>
                  <a:schemeClr val="dk1"/>
                </a:solidFill>
              </a:rPr>
            </a:br>
            <a:br>
              <a:rPr lang="de" sz="1200">
                <a:solidFill>
                  <a:schemeClr val="dk1"/>
                </a:solidFill>
              </a:rPr>
            </a:br>
            <a:r>
              <a:rPr lang="de" sz="1200">
                <a:solidFill>
                  <a:schemeClr val="dk1"/>
                </a:solidFill>
              </a:rPr>
              <a:t>Propo</a:t>
            </a:r>
            <a:r>
              <a:rPr lang="de" sz="1200">
                <a:solidFill>
                  <a:schemeClr val="dk1"/>
                </a:solidFill>
              </a:rPr>
              <a:t>s</a:t>
            </a:r>
            <a:r>
              <a:rPr lang="de" sz="1200">
                <a:solidFill>
                  <a:schemeClr val="dk1"/>
                </a:solidFill>
              </a:rPr>
              <a:t>al-Phase sehr lang, Drop-off stark</a:t>
            </a:r>
            <a:br>
              <a:rPr lang="de" sz="1200">
                <a:solidFill>
                  <a:schemeClr val="dk1"/>
                </a:solidFill>
              </a:rPr>
            </a:br>
            <a:br>
              <a:rPr lang="de" sz="1200">
                <a:solidFill>
                  <a:schemeClr val="dk1"/>
                </a:solidFill>
              </a:rPr>
            </a:br>
            <a:r>
              <a:rPr lang="de" sz="1200">
                <a:solidFill>
                  <a:schemeClr val="dk1"/>
                </a:solidFill>
              </a:rPr>
              <a:t>Verträge mit hoher Verweildauer – geringe Forecast-Sicherheit</a:t>
            </a:r>
            <a:br>
              <a:rPr lang="de" sz="1200">
                <a:solidFill>
                  <a:schemeClr val="dk1"/>
                </a:solidFill>
              </a:rPr>
            </a:br>
            <a:br>
              <a:rPr lang="de" sz="1200">
                <a:solidFill>
                  <a:schemeClr val="dk1"/>
                </a:solidFill>
              </a:rPr>
            </a:br>
            <a:br>
              <a:rPr lang="de" sz="1200">
                <a:solidFill>
                  <a:schemeClr val="dk1"/>
                </a:solidFill>
              </a:rPr>
            </a:br>
            <a:r>
              <a:rPr lang="de" sz="1200">
                <a:solidFill>
                  <a:schemeClr val="dk1"/>
                </a:solidFill>
              </a:rPr>
              <a:t>Deals &gt; durchschnittliche Phase-Dauer haben &lt; 30 % Abschlusswahrscheinlichkeit</a:t>
            </a:r>
            <a:br>
              <a:rPr lang="de" sz="1200">
                <a:solidFill>
                  <a:schemeClr val="dk1"/>
                </a:solidFill>
              </a:rPr>
            </a:br>
            <a:br>
              <a:rPr lang="de" sz="1200">
                <a:solidFill>
                  <a:schemeClr val="dk1"/>
                </a:solidFill>
              </a:rPr>
            </a:br>
            <a:r>
              <a:rPr lang="de" sz="1200">
                <a:solidFill>
                  <a:schemeClr val="dk1"/>
                </a:solidFill>
              </a:rPr>
              <a:t>Nur 1 Abschluss = </a:t>
            </a:r>
            <a:r>
              <a:rPr b="1" lang="de" sz="1200">
                <a:solidFill>
                  <a:schemeClr val="dk1"/>
                </a:solidFill>
              </a:rPr>
              <a:t>Conversion &lt; 5 %</a:t>
            </a:r>
            <a:br>
              <a:rPr b="1" lang="de" sz="1200">
                <a:solidFill>
                  <a:schemeClr val="dk1"/>
                </a:solidFill>
              </a:rPr>
            </a:br>
            <a:endParaRPr sz="1200">
              <a:solidFill>
                <a:schemeClr val="dk1"/>
              </a:solidFill>
            </a:endParaRPr>
          </a:p>
        </p:txBody>
      </p:sp>
      <p:sp>
        <p:nvSpPr>
          <p:cNvPr id="117" name="Google Shape;117;p20"/>
          <p:cNvSpPr txBox="1"/>
          <p:nvPr>
            <p:ph idx="4294967295" type="title"/>
          </p:nvPr>
        </p:nvSpPr>
        <p:spPr>
          <a:xfrm>
            <a:off x="366400" y="1452800"/>
            <a:ext cx="3287100" cy="4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100"/>
              <a:t>Risiken &amp; Brennpunkte</a:t>
            </a:r>
            <a:endParaRPr b="1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63050" y="3643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de" sz="1800"/>
              <a:t>Coaching- &amp; Enablement-Ansatz</a:t>
            </a:r>
            <a:endParaRPr b="1" sz="1800"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438125"/>
            <a:ext cx="5073900" cy="313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de" sz="1000">
                <a:solidFill>
                  <a:schemeClr val="dk1"/>
                </a:solidFill>
              </a:rPr>
              <a:t>Ziel:</a:t>
            </a:r>
            <a:r>
              <a:rPr lang="de" sz="1000">
                <a:solidFill>
                  <a:schemeClr val="dk1"/>
                </a:solidFill>
              </a:rPr>
              <a:t> Deals vorantreiben, Blockaden identifizieren, Ressourcen fokussieren</a:t>
            </a:r>
            <a:br>
              <a:rPr lang="de" sz="1000">
                <a:solidFill>
                  <a:schemeClr val="dk1"/>
                </a:solidFill>
              </a:rPr>
            </a:br>
            <a:br>
              <a:rPr lang="de" sz="1000">
                <a:solidFill>
                  <a:schemeClr val="dk1"/>
                </a:solidFill>
              </a:rPr>
            </a:br>
            <a:r>
              <a:rPr b="1" lang="de" sz="1000">
                <a:solidFill>
                  <a:schemeClr val="dk1"/>
                </a:solidFill>
              </a:rPr>
              <a:t>Methoden &amp; Tools:</a:t>
            </a:r>
            <a:br>
              <a:rPr b="1" lang="de" sz="1000">
                <a:solidFill>
                  <a:schemeClr val="dk1"/>
                </a:solidFill>
              </a:rPr>
            </a:br>
            <a:br>
              <a:rPr b="1" lang="de" sz="1000">
                <a:solidFill>
                  <a:schemeClr val="dk1"/>
                </a:solidFill>
              </a:rPr>
            </a:br>
            <a:r>
              <a:rPr lang="de" sz="1000">
                <a:solidFill>
                  <a:schemeClr val="dk1"/>
                </a:solidFill>
              </a:rPr>
              <a:t>  • BANT / CHAMP zur Qualifizierung</a:t>
            </a:r>
            <a:br>
              <a:rPr lang="de" sz="1000">
                <a:solidFill>
                  <a:schemeClr val="dk1"/>
                </a:solidFill>
              </a:rPr>
            </a:br>
            <a:br>
              <a:rPr lang="de" sz="1000">
                <a:solidFill>
                  <a:schemeClr val="dk1"/>
                </a:solidFill>
              </a:rPr>
            </a:br>
            <a:r>
              <a:rPr lang="de" sz="1000">
                <a:solidFill>
                  <a:schemeClr val="dk1"/>
                </a:solidFill>
              </a:rPr>
              <a:t>  • Commitment-Framework: klarer Next Step + Terminverbindlichkeit</a:t>
            </a:r>
            <a:br>
              <a:rPr lang="de" sz="1000">
                <a:solidFill>
                  <a:schemeClr val="dk1"/>
                </a:solidFill>
              </a:rPr>
            </a:br>
            <a:br>
              <a:rPr lang="de" sz="1000">
                <a:solidFill>
                  <a:schemeClr val="dk1"/>
                </a:solidFill>
              </a:rPr>
            </a:br>
            <a:r>
              <a:rPr lang="de" sz="1000">
                <a:solidFill>
                  <a:schemeClr val="dk1"/>
                </a:solidFill>
              </a:rPr>
              <a:t>  • Wöchentliche Deal-Review-Meetings mit datengetriebenen Kennzahlen</a:t>
            </a:r>
            <a:br>
              <a:rPr lang="de" sz="1000">
                <a:solidFill>
                  <a:schemeClr val="dk1"/>
                </a:solidFill>
              </a:rPr>
            </a:br>
            <a:br>
              <a:rPr lang="de" sz="1000">
                <a:solidFill>
                  <a:schemeClr val="dk1"/>
                </a:solidFill>
              </a:rPr>
            </a:br>
            <a:r>
              <a:rPr lang="de" sz="1000">
                <a:solidFill>
                  <a:schemeClr val="dk1"/>
                </a:solidFill>
              </a:rPr>
              <a:t>  • Deal-Momentum-Indikatoren (Antwortzeiten, Stakeholderwechsel, Budget­sicherheit)</a:t>
            </a:r>
            <a:br>
              <a:rPr lang="de" sz="1000">
                <a:solidFill>
                  <a:schemeClr val="dk1"/>
                </a:solidFill>
              </a:rPr>
            </a:br>
            <a:br>
              <a:rPr lang="de" sz="1000">
                <a:solidFill>
                  <a:schemeClr val="dk1"/>
                </a:solidFill>
              </a:rPr>
            </a:br>
            <a:r>
              <a:rPr lang="de" sz="1000">
                <a:solidFill>
                  <a:schemeClr val="dk1"/>
                </a:solidFill>
              </a:rPr>
              <a:t>  • Contingency-Pläne für stagnierende Deals (Lost, Reaktivierung)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124" name="Google Shape;124;p21"/>
          <p:cNvSpPr txBox="1"/>
          <p:nvPr>
            <p:ph idx="1" type="body"/>
          </p:nvPr>
        </p:nvSpPr>
        <p:spPr>
          <a:xfrm>
            <a:off x="5385600" y="1438125"/>
            <a:ext cx="3461400" cy="313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000">
                <a:solidFill>
                  <a:schemeClr val="dk1"/>
                </a:solidFill>
              </a:rPr>
              <a:t>Kernfragen:</a:t>
            </a:r>
            <a:br>
              <a:rPr b="1" lang="de" sz="1000">
                <a:solidFill>
                  <a:schemeClr val="dk1"/>
                </a:solidFill>
              </a:rPr>
            </a:br>
            <a:br>
              <a:rPr b="1" lang="de" sz="1000">
                <a:solidFill>
                  <a:schemeClr val="dk1"/>
                </a:solidFill>
              </a:rPr>
            </a:br>
            <a:r>
              <a:rPr lang="de" sz="1000">
                <a:solidFill>
                  <a:schemeClr val="dk1"/>
                </a:solidFill>
              </a:rPr>
              <a:t>  • Welcher konkrete nächste Schritt ist vereinbart?</a:t>
            </a:r>
            <a:br>
              <a:rPr lang="de" sz="1000">
                <a:solidFill>
                  <a:schemeClr val="dk1"/>
                </a:solidFill>
              </a:rPr>
            </a:br>
            <a:br>
              <a:rPr lang="de" sz="1000">
                <a:solidFill>
                  <a:schemeClr val="dk1"/>
                </a:solidFill>
              </a:rPr>
            </a:br>
            <a:r>
              <a:rPr lang="de" sz="1000">
                <a:solidFill>
                  <a:schemeClr val="dk1"/>
                </a:solidFill>
              </a:rPr>
              <a:t>  • Welche Entscheidungsträger fehlen noch?</a:t>
            </a:r>
            <a:br>
              <a:rPr lang="de" sz="1000">
                <a:solidFill>
                  <a:schemeClr val="dk1"/>
                </a:solidFill>
              </a:rPr>
            </a:br>
            <a:br>
              <a:rPr lang="de" sz="1000">
                <a:solidFill>
                  <a:schemeClr val="dk1"/>
                </a:solidFill>
              </a:rPr>
            </a:br>
            <a:r>
              <a:rPr lang="de" sz="1000">
                <a:solidFill>
                  <a:schemeClr val="dk1"/>
                </a:solidFill>
              </a:rPr>
              <a:t>  • Wie messen wir Momentum (z. B. Antwortfrequenz, neue Infos)?</a:t>
            </a:r>
            <a:br>
              <a:rPr lang="de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000">
                <a:solidFill>
                  <a:schemeClr val="dk1"/>
                </a:solidFill>
              </a:rPr>
              <a:t>Feedback-Loop:</a:t>
            </a:r>
            <a:r>
              <a:rPr lang="de" sz="1000">
                <a:solidFill>
                  <a:schemeClr val="dk1"/>
                </a:solidFill>
              </a:rPr>
              <a:t> Tracking von Abschlussraten, Deal-Alter, Fortschrittskurven</a:t>
            </a:r>
            <a:br>
              <a:rPr lang="de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de" sz="1800"/>
              <a:t>Zusammenfassung &amp; Nächste Schritte</a:t>
            </a:r>
            <a:endParaRPr b="1" sz="1800"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152475"/>
            <a:ext cx="8520600" cy="359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de" sz="1000">
                <a:solidFill>
                  <a:schemeClr val="dk1"/>
                </a:solidFill>
              </a:rPr>
              <a:t>Strategie:</a:t>
            </a:r>
            <a:r>
              <a:rPr lang="de" sz="1000">
                <a:solidFill>
                  <a:schemeClr val="dk1"/>
                </a:solidFill>
              </a:rPr>
              <a:t> Personalisierter, datengetriebener Outreach + echte Business-Relevanz</a:t>
            </a:r>
            <a:br>
              <a:rPr lang="de" sz="1000">
                <a:solidFill>
                  <a:schemeClr val="dk1"/>
                </a:solidFill>
              </a:rPr>
            </a:br>
            <a:br>
              <a:rPr lang="de" sz="1000">
                <a:solidFill>
                  <a:schemeClr val="dk1"/>
                </a:solidFill>
              </a:rPr>
            </a:br>
            <a:r>
              <a:rPr b="1" lang="de" sz="1000">
                <a:solidFill>
                  <a:schemeClr val="dk1"/>
                </a:solidFill>
              </a:rPr>
              <a:t>Mehrwert:</a:t>
            </a:r>
            <a:r>
              <a:rPr lang="de" sz="1000">
                <a:solidFill>
                  <a:schemeClr val="dk1"/>
                </a:solidFill>
              </a:rPr>
              <a:t> Mollie löst zentrale Pain Points mit integrierter Lösung &amp; Transparenz</a:t>
            </a:r>
            <a:br>
              <a:rPr lang="de" sz="1000">
                <a:solidFill>
                  <a:schemeClr val="dk1"/>
                </a:solidFill>
              </a:rPr>
            </a:br>
            <a:br>
              <a:rPr lang="de" sz="1000">
                <a:solidFill>
                  <a:schemeClr val="dk1"/>
                </a:solidFill>
              </a:rPr>
            </a:br>
            <a:r>
              <a:rPr b="1" lang="de" sz="1000">
                <a:solidFill>
                  <a:schemeClr val="dk1"/>
                </a:solidFill>
              </a:rPr>
              <a:t>Pipeline:</a:t>
            </a:r>
            <a:r>
              <a:rPr lang="de" sz="1000">
                <a:solidFill>
                  <a:schemeClr val="dk1"/>
                </a:solidFill>
              </a:rPr>
              <a:t> Fokus auf Optimierung der Proposal-Phase &amp; Eliminierung von Blockern</a:t>
            </a:r>
            <a:br>
              <a:rPr lang="de" sz="1000">
                <a:solidFill>
                  <a:schemeClr val="dk1"/>
                </a:solidFill>
              </a:rPr>
            </a:br>
            <a:br>
              <a:rPr lang="de" sz="1000">
                <a:solidFill>
                  <a:schemeClr val="dk1"/>
                </a:solidFill>
              </a:rPr>
            </a:br>
            <a:r>
              <a:rPr b="1" lang="de" sz="1000">
                <a:solidFill>
                  <a:schemeClr val="dk1"/>
                </a:solidFill>
              </a:rPr>
              <a:t>Coaching:</a:t>
            </a:r>
            <a:r>
              <a:rPr lang="de" sz="1000">
                <a:solidFill>
                  <a:schemeClr val="dk1"/>
                </a:solidFill>
              </a:rPr>
              <a:t> Strukturierter Support, Ownership beim Junior-BDM, klare Messgrößen</a:t>
            </a:r>
            <a:br>
              <a:rPr lang="de" sz="1000">
                <a:solidFill>
                  <a:schemeClr val="dk1"/>
                </a:solidFill>
              </a:rPr>
            </a:br>
            <a:br>
              <a:rPr lang="de" sz="1000">
                <a:solidFill>
                  <a:schemeClr val="dk1"/>
                </a:solidFill>
              </a:rPr>
            </a:br>
            <a:r>
              <a:rPr b="1" lang="de" sz="1000">
                <a:solidFill>
                  <a:schemeClr val="dk1"/>
                </a:solidFill>
              </a:rPr>
              <a:t>Next Steps:</a:t>
            </a:r>
            <a:br>
              <a:rPr b="1" lang="de" sz="1000">
                <a:solidFill>
                  <a:schemeClr val="dk1"/>
                </a:solidFill>
              </a:rPr>
            </a:br>
            <a:br>
              <a:rPr b="1" lang="de" sz="1000">
                <a:solidFill>
                  <a:schemeClr val="dk1"/>
                </a:solidFill>
              </a:rPr>
            </a:br>
            <a:r>
              <a:rPr lang="de" sz="1000">
                <a:solidFill>
                  <a:schemeClr val="dk1"/>
                </a:solidFill>
              </a:rPr>
              <a:t>  • Proaktive Terminerstellung mit Entscheidern bei Lodenfrey</a:t>
            </a:r>
            <a:br>
              <a:rPr lang="de" sz="1000">
                <a:solidFill>
                  <a:schemeClr val="dk1"/>
                </a:solidFill>
              </a:rPr>
            </a:br>
            <a:br>
              <a:rPr lang="de" sz="1000">
                <a:solidFill>
                  <a:schemeClr val="dk1"/>
                </a:solidFill>
              </a:rPr>
            </a:br>
            <a:r>
              <a:rPr lang="de" sz="1000">
                <a:solidFill>
                  <a:schemeClr val="dk1"/>
                </a:solidFill>
              </a:rPr>
              <a:t>  • Pipeline-Clean-Up + Priorisierung der „heißen“ Deals</a:t>
            </a:r>
            <a:br>
              <a:rPr lang="de" sz="1000">
                <a:solidFill>
                  <a:schemeClr val="dk1"/>
                </a:solidFill>
              </a:rPr>
            </a:br>
            <a:br>
              <a:rPr lang="de" sz="1000">
                <a:solidFill>
                  <a:schemeClr val="dk1"/>
                </a:solidFill>
              </a:rPr>
            </a:br>
            <a:r>
              <a:rPr lang="de" sz="1000">
                <a:solidFill>
                  <a:schemeClr val="dk1"/>
                </a:solidFill>
              </a:rPr>
              <a:t>  • Qualifizierungsworkshop &amp; Coaching-Zyklen im CRM einplanen</a:t>
            </a:r>
            <a:br>
              <a:rPr lang="de" sz="1000">
                <a:solidFill>
                  <a:schemeClr val="dk1"/>
                </a:solidFill>
              </a:rPr>
            </a:br>
            <a:br>
              <a:rPr lang="de" sz="1000">
                <a:solidFill>
                  <a:schemeClr val="dk1"/>
                </a:solidFill>
              </a:rPr>
            </a:br>
            <a:r>
              <a:rPr lang="de" sz="1000">
                <a:solidFill>
                  <a:schemeClr val="dk1"/>
                </a:solidFill>
              </a:rPr>
              <a:t>  • Monitoring von KPIs: Conversion-Rate, Deal-Alter, Abschlusswahrscheinlichkeiten</a:t>
            </a:r>
            <a:br>
              <a:rPr lang="de" sz="1000">
                <a:solidFill>
                  <a:schemeClr val="dk1"/>
                </a:solidFill>
              </a:rPr>
            </a:b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