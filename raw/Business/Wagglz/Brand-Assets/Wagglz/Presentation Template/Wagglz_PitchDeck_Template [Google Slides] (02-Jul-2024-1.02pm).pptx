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54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nion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2942965"/>
            <a:ext cx="18287992" cy="4399736"/>
          </a:xfrm>
          <a:prstGeom prst="rect">
            <a:avLst/>
          </a:prstGeom>
        </p:spPr>
      </p:pic>
      <p:sp>
        <p:nvSpPr>
          <p:cNvPr id="3" name="name_2024"/>
          <p:cNvSpPr/>
          <p:nvPr/>
        </p:nvSpPr>
        <p:spPr>
          <a:xfrm>
            <a:off x="8686800" y="9753600"/>
            <a:ext cx="904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6"/>
              </a:lnSpc>
              <a:buNone/>
            </a:pPr>
            <a:r>
              <a:rPr lang="en-US" sz="2625" spc="53" kern="0" dirty="0">
                <a:solidFill>
                  <a:srgbClr val="A6A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</a:t>
            </a:r>
            <a:pPr algn="ctr" indent="0" marL="0">
              <a:lnSpc>
                <a:spcPts val="2026"/>
              </a:lnSpc>
              <a:buNone/>
            </a:pPr>
            <a:r>
              <a:rPr lang="en-US" sz="2625" spc="53" kern="0" dirty="0">
                <a:solidFill>
                  <a:srgbClr val="A6A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</a:t>
            </a:r>
            <a:pPr algn="ctr" indent="0" marL="0">
              <a:lnSpc>
                <a:spcPts val="2026"/>
              </a:lnSpc>
              <a:buNone/>
            </a:pPr>
            <a:r>
              <a:rPr lang="en-US" sz="2625" spc="53" kern="0" dirty="0">
                <a:solidFill>
                  <a:srgbClr val="A6A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</a:t>
            </a:r>
            <a:pPr algn="ctr" indent="0" marL="0">
              <a:lnSpc>
                <a:spcPts val="2026"/>
              </a:lnSpc>
              <a:buNone/>
            </a:pPr>
            <a:r>
              <a:rPr lang="en-US" sz="2625" spc="53" kern="0" dirty="0">
                <a:solidFill>
                  <a:srgbClr val="A6A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4</a:t>
            </a:r>
            <a:endParaRPr lang="en-US" sz="26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54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029700" y="3971925"/>
            <a:ext cx="3300404" cy="2340091"/>
          </a:xfrm>
          <a:prstGeom prst="rect">
            <a:avLst/>
          </a:prstGeom>
        </p:spPr>
      </p:pic>
      <p:sp>
        <p:nvSpPr>
          <p:cNvPr id="3" name="name_2024"/>
          <p:cNvSpPr/>
          <p:nvPr/>
        </p:nvSpPr>
        <p:spPr>
          <a:xfrm>
            <a:off x="8686800" y="9753600"/>
            <a:ext cx="904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6"/>
              </a:lnSpc>
              <a:buNone/>
            </a:pPr>
            <a:r>
              <a:rPr lang="en-US" sz="2625" spc="53" kern="0" dirty="0">
                <a:solidFill>
                  <a:srgbClr val="A6A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</a:t>
            </a:r>
            <a:pPr algn="ctr" indent="0" marL="0">
              <a:lnSpc>
                <a:spcPts val="2026"/>
              </a:lnSpc>
              <a:buNone/>
            </a:pPr>
            <a:r>
              <a:rPr lang="en-US" sz="2625" spc="53" kern="0" dirty="0">
                <a:solidFill>
                  <a:srgbClr val="A6A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</a:t>
            </a:r>
            <a:pPr algn="ctr" indent="0" marL="0">
              <a:lnSpc>
                <a:spcPts val="2026"/>
              </a:lnSpc>
              <a:buNone/>
            </a:pPr>
            <a:r>
              <a:rPr lang="en-US" sz="2625" spc="53" kern="0" dirty="0">
                <a:solidFill>
                  <a:srgbClr val="A6A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</a:t>
            </a:r>
            <a:pPr algn="ctr" indent="0" marL="0">
              <a:lnSpc>
                <a:spcPts val="2026"/>
              </a:lnSpc>
              <a:buNone/>
            </a:pPr>
            <a:r>
              <a:rPr lang="en-US" sz="2625" spc="53" kern="0" dirty="0">
                <a:solidFill>
                  <a:srgbClr val="A6A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4</a:t>
            </a:r>
            <a:endParaRPr lang="en-US" sz="2625" dirty="0"/>
          </a:p>
        </p:txBody>
      </p:sp>
      <p:sp>
        <p:nvSpPr>
          <p:cNvPr id="4" name="Thank"/>
          <p:cNvSpPr/>
          <p:nvPr/>
        </p:nvSpPr>
        <p:spPr>
          <a:xfrm>
            <a:off x="428625" y="3790950"/>
            <a:ext cx="8477250" cy="270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05"/>
              </a:lnSpc>
              <a:buNone/>
            </a:pPr>
            <a:r>
              <a:rPr lang="en-US" sz="21300" spc="-675" kern="0" dirty="0">
                <a:solidFill>
                  <a:srgbClr val="C3C3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</a:t>
            </a:r>
            <a:pPr algn="l" indent="0" marL="0">
              <a:lnSpc>
                <a:spcPts val="18105"/>
              </a:lnSpc>
              <a:buNone/>
            </a:pPr>
            <a:r>
              <a:rPr lang="en-US" sz="21300" spc="-675" kern="0" dirty="0">
                <a:solidFill>
                  <a:srgbClr val="C3C3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</a:t>
            </a:r>
            <a:pPr algn="l" indent="0" marL="0">
              <a:lnSpc>
                <a:spcPts val="18105"/>
              </a:lnSpc>
              <a:buNone/>
            </a:pPr>
            <a:r>
              <a:rPr lang="en-US" sz="21300" spc="-675" kern="0" dirty="0">
                <a:solidFill>
                  <a:srgbClr val="C3C3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</a:t>
            </a:r>
            <a:pPr algn="l" indent="0" marL="0">
              <a:lnSpc>
                <a:spcPts val="18105"/>
              </a:lnSpc>
              <a:buNone/>
            </a:pPr>
            <a:r>
              <a:rPr lang="en-US" sz="21300" spc="-675" kern="0" dirty="0">
                <a:solidFill>
                  <a:srgbClr val="C3C3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18105"/>
              </a:lnSpc>
              <a:buNone/>
            </a:pPr>
            <a:r>
              <a:rPr lang="en-US" sz="21300" spc="-675" kern="0" dirty="0">
                <a:solidFill>
                  <a:srgbClr val="C3C3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</a:t>
            </a:r>
            <a:endParaRPr lang="en-US" sz="21300" dirty="0"/>
          </a:p>
        </p:txBody>
      </p:sp>
      <p:sp>
        <p:nvSpPr>
          <p:cNvPr id="5" name="you"/>
          <p:cNvSpPr/>
          <p:nvPr/>
        </p:nvSpPr>
        <p:spPr>
          <a:xfrm>
            <a:off x="12706350" y="3790950"/>
            <a:ext cx="5143500" cy="270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05"/>
              </a:lnSpc>
              <a:buNone/>
            </a:pPr>
            <a:r>
              <a:rPr lang="en-US" sz="21300" spc="-675" kern="0" dirty="0">
                <a:solidFill>
                  <a:srgbClr val="C3C3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y</a:t>
            </a:r>
            <a:pPr algn="l" indent="0" marL="0">
              <a:lnSpc>
                <a:spcPts val="18105"/>
              </a:lnSpc>
              <a:buNone/>
            </a:pPr>
            <a:r>
              <a:rPr lang="en-US" sz="21300" spc="-675" kern="0" dirty="0">
                <a:solidFill>
                  <a:srgbClr val="C3C3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</a:t>
            </a:r>
            <a:pPr algn="l" indent="0" marL="0">
              <a:lnSpc>
                <a:spcPts val="18105"/>
              </a:lnSpc>
              <a:buNone/>
            </a:pPr>
            <a:r>
              <a:rPr lang="en-US" sz="21300" spc="-675" kern="0" dirty="0">
                <a:solidFill>
                  <a:srgbClr val="C3C3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</a:t>
            </a:r>
            <a:endParaRPr lang="en-US" sz="2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4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oter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9534523"/>
            <a:ext cx="17526000" cy="447677"/>
          </a:xfrm>
          <a:prstGeom prst="rect">
            <a:avLst/>
          </a:prstGeom>
        </p:spPr>
      </p:pic>
      <p:pic>
        <p:nvPicPr>
          <p:cNvPr id="3" name="Logo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352425"/>
            <a:ext cx="971550" cy="688860"/>
          </a:xfrm>
          <a:prstGeom prst="rect">
            <a:avLst/>
          </a:prstGeom>
        </p:spPr>
      </p:pic>
      <p:sp>
        <p:nvSpPr>
          <p:cNvPr id="4" name="Leading technology company specializing in innovative solutions for managing digital assets in todays interconnected world"/>
          <p:cNvSpPr/>
          <p:nvPr/>
        </p:nvSpPr>
        <p:spPr>
          <a:xfrm>
            <a:off x="381000" y="1943100"/>
            <a:ext cx="6296025" cy="5200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g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g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y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y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z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g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g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g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g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y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'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.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endParaRPr lang="en-US" sz="4500" dirty="0"/>
          </a:p>
        </p:txBody>
      </p:sp>
      <p:sp>
        <p:nvSpPr>
          <p:cNvPr id="5" name="Our mission is to empower individuals and businesses to protect their digital assets streamline workflows and unlock new opportunities in the digital age Backed by a team of experienced professionals and fueled by a passion for technological advancement r"/>
          <p:cNvSpPr/>
          <p:nvPr/>
        </p:nvSpPr>
        <p:spPr>
          <a:xfrm>
            <a:off x="7734300" y="4333875"/>
            <a:ext cx="10106025" cy="441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y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x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y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y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3729"/>
              </a:lnSpc>
              <a:buNone/>
            </a:pPr>
            <a:r>
              <a:rPr lang="en-US" sz="3375" spc="-75" kern="0" dirty="0">
                <a:solidFill>
                  <a:srgbClr val="F6F6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</a:t>
            </a:r>
            <a:endParaRPr lang="en-US" sz="3375" dirty="0"/>
          </a:p>
        </p:txBody>
      </p:sp>
      <p:sp>
        <p:nvSpPr>
          <p:cNvPr id="6" name="name_02"/>
          <p:cNvSpPr/>
          <p:nvPr/>
        </p:nvSpPr>
        <p:spPr>
          <a:xfrm>
            <a:off x="17630775" y="9734550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0</a:t>
            </a:r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Wagglz"/>
          <p:cNvSpPr/>
          <p:nvPr/>
        </p:nvSpPr>
        <p:spPr>
          <a:xfrm>
            <a:off x="381000" y="9734550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Z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A6A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oter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9534523"/>
            <a:ext cx="17526000" cy="447677"/>
          </a:xfrm>
          <a:prstGeom prst="rect">
            <a:avLst/>
          </a:prstGeom>
        </p:spPr>
      </p:pic>
      <p:pic>
        <p:nvPicPr>
          <p:cNvPr id="3" name="Logo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0995" y="3581400"/>
            <a:ext cx="2207461" cy="1565160"/>
          </a:xfrm>
          <a:prstGeom prst="rect">
            <a:avLst/>
          </a:prstGeom>
        </p:spPr>
      </p:pic>
      <p:sp>
        <p:nvSpPr>
          <p:cNvPr id="4" name="Innovative Solutions for a Connected World"/>
          <p:cNvSpPr/>
          <p:nvPr/>
        </p:nvSpPr>
        <p:spPr>
          <a:xfrm>
            <a:off x="381000" y="6057900"/>
            <a:ext cx="1731645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
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</a:t>
            </a:r>
            <a:pPr algn="l" indent="0" marL="0">
              <a:lnSpc>
                <a:spcPts val="10200"/>
              </a:lnSpc>
              <a:buNone/>
            </a:pPr>
            <a:r>
              <a:rPr lang="en-US" sz="12000" spc="-30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</a:t>
            </a:r>
            <a:endParaRPr lang="en-US" sz="12000" dirty="0"/>
          </a:p>
        </p:txBody>
      </p:sp>
      <p:sp>
        <p:nvSpPr>
          <p:cNvPr id="5" name="name_02"/>
          <p:cNvSpPr/>
          <p:nvPr/>
        </p:nvSpPr>
        <p:spPr>
          <a:xfrm>
            <a:off x="17630775" y="9734550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0</a:t>
            </a:r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Wagglz"/>
          <p:cNvSpPr/>
          <p:nvPr/>
        </p:nvSpPr>
        <p:spPr>
          <a:xfrm>
            <a:off x="381000" y="9734550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Z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54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419100"/>
            <a:ext cx="17526000" cy="8715375"/>
          </a:xfrm>
          <a:prstGeom prst="rect">
            <a:avLst/>
          </a:prstGeom>
        </p:spPr>
      </p:pic>
      <p:pic>
        <p:nvPicPr>
          <p:cNvPr id="3" name="Image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753725" y="1152525"/>
            <a:ext cx="6762750" cy="7581900"/>
          </a:xfrm>
          <a:prstGeom prst="rect">
            <a:avLst/>
          </a:prstGeom>
        </p:spPr>
      </p:pic>
      <p:pic>
        <p:nvPicPr>
          <p:cNvPr id="4" name="footer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000" y="9534523"/>
            <a:ext cx="17526000" cy="447677"/>
          </a:xfrm>
          <a:prstGeom prst="rect">
            <a:avLst/>
          </a:prstGeom>
        </p:spPr>
      </p:pic>
      <p:sp>
        <p:nvSpPr>
          <p:cNvPr id="5" name="name_5 Something yet yet"/>
          <p:cNvSpPr/>
          <p:nvPr/>
        </p:nvSpPr>
        <p:spPr>
          <a:xfrm>
            <a:off x="1295400" y="7791450"/>
            <a:ext cx="7391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5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.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y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y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</a:t>
            </a:r>
            <a:endParaRPr lang="en-US" sz="2550" dirty="0"/>
          </a:p>
        </p:txBody>
      </p:sp>
      <p:sp>
        <p:nvSpPr>
          <p:cNvPr id="6" name="name_4 Something yet"/>
          <p:cNvSpPr/>
          <p:nvPr/>
        </p:nvSpPr>
        <p:spPr>
          <a:xfrm>
            <a:off x="1295400" y="7191375"/>
            <a:ext cx="7391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4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.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y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</a:t>
            </a:r>
            <a:endParaRPr lang="en-US" sz="2550" dirty="0"/>
          </a:p>
        </p:txBody>
      </p:sp>
      <p:sp>
        <p:nvSpPr>
          <p:cNvPr id="7" name="name_3 Idea validation"/>
          <p:cNvSpPr/>
          <p:nvPr/>
        </p:nvSpPr>
        <p:spPr>
          <a:xfrm>
            <a:off x="1295400" y="6591300"/>
            <a:ext cx="7391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.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</a:t>
            </a:r>
            <a:endParaRPr lang="en-US" sz="2550" dirty="0"/>
          </a:p>
        </p:txBody>
      </p:sp>
      <p:sp>
        <p:nvSpPr>
          <p:cNvPr id="8" name="name_2 MVP Planing"/>
          <p:cNvSpPr/>
          <p:nvPr/>
        </p:nvSpPr>
        <p:spPr>
          <a:xfrm>
            <a:off x="1295400" y="5991225"/>
            <a:ext cx="7391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.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</a:t>
            </a:r>
            <a:endParaRPr lang="en-US" sz="2550" dirty="0"/>
          </a:p>
        </p:txBody>
      </p:sp>
      <p:sp>
        <p:nvSpPr>
          <p:cNvPr id="9" name="name_1 Market  competitors research"/>
          <p:cNvSpPr/>
          <p:nvPr/>
        </p:nvSpPr>
        <p:spPr>
          <a:xfrm>
            <a:off x="1295400" y="5391150"/>
            <a:ext cx="7391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.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k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&amp;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</a:t>
            </a:r>
            <a:pPr algn="l" indent="0" marL="0">
              <a:lnSpc>
                <a:spcPts val="2359"/>
              </a:lnSpc>
              <a:buNone/>
            </a:pPr>
            <a:r>
              <a:rPr lang="en-US" sz="2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</a:t>
            </a:r>
            <a:endParaRPr lang="en-US" sz="2550" dirty="0"/>
          </a:p>
        </p:txBody>
      </p:sp>
      <p:sp>
        <p:nvSpPr>
          <p:cNvPr id="10" name="A strong brand strategy is meticulously crafted taking into account all aspects of your market niche product or service offerings customers and competitors"/>
          <p:cNvSpPr/>
          <p:nvPr/>
        </p:nvSpPr>
        <p:spPr>
          <a:xfrm>
            <a:off x="1295400" y="2676525"/>
            <a:ext cx="7381875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b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y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y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,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y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,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,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v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,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,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07"/>
              </a:lnSpc>
              <a:buNone/>
            </a:pPr>
            <a:r>
              <a:rPr lang="en-US" sz="28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.</a:t>
            </a:r>
            <a:endParaRPr lang="en-US" sz="2850" dirty="0"/>
          </a:p>
        </p:txBody>
      </p:sp>
      <p:sp>
        <p:nvSpPr>
          <p:cNvPr id="11" name="Strategy"/>
          <p:cNvSpPr/>
          <p:nvPr/>
        </p:nvSpPr>
        <p:spPr>
          <a:xfrm>
            <a:off x="1295400" y="1152525"/>
            <a:ext cx="738187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56"/>
              </a:lnSpc>
              <a:buNone/>
            </a:pPr>
            <a:r>
              <a:rPr lang="en-US" sz="8250" spc="-225" kern="0" dirty="0">
                <a:solidFill>
                  <a:srgbClr val="2E54C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</a:t>
            </a:r>
            <a:pPr algn="l" indent="0" marL="0">
              <a:lnSpc>
                <a:spcPts val="6056"/>
              </a:lnSpc>
              <a:buNone/>
            </a:pPr>
            <a:r>
              <a:rPr lang="en-US" sz="8250" spc="-225" kern="0" dirty="0">
                <a:solidFill>
                  <a:srgbClr val="2E54C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</a:t>
            </a:r>
            <a:pPr algn="l" indent="0" marL="0">
              <a:lnSpc>
                <a:spcPts val="6056"/>
              </a:lnSpc>
              <a:buNone/>
            </a:pPr>
            <a:r>
              <a:rPr lang="en-US" sz="8250" spc="-225" kern="0" dirty="0">
                <a:solidFill>
                  <a:srgbClr val="2E54C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r</a:t>
            </a:r>
            <a:pPr algn="l" indent="0" marL="0">
              <a:lnSpc>
                <a:spcPts val="6056"/>
              </a:lnSpc>
              <a:buNone/>
            </a:pPr>
            <a:r>
              <a:rPr lang="en-US" sz="8250" spc="-225" kern="0" dirty="0">
                <a:solidFill>
                  <a:srgbClr val="2E54C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a</a:t>
            </a:r>
            <a:pPr algn="l" indent="0" marL="0">
              <a:lnSpc>
                <a:spcPts val="6056"/>
              </a:lnSpc>
              <a:buNone/>
            </a:pPr>
            <a:r>
              <a:rPr lang="en-US" sz="8250" spc="-225" kern="0" dirty="0">
                <a:solidFill>
                  <a:srgbClr val="2E54C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</a:t>
            </a:r>
            <a:pPr algn="l" indent="0" marL="0">
              <a:lnSpc>
                <a:spcPts val="6056"/>
              </a:lnSpc>
              <a:buNone/>
            </a:pPr>
            <a:r>
              <a:rPr lang="en-US" sz="8250" spc="-225" kern="0" dirty="0">
                <a:solidFill>
                  <a:srgbClr val="2E54C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e</a:t>
            </a:r>
            <a:pPr algn="l" indent="0" marL="0">
              <a:lnSpc>
                <a:spcPts val="6056"/>
              </a:lnSpc>
              <a:buNone/>
            </a:pPr>
            <a:r>
              <a:rPr lang="en-US" sz="8250" spc="-225" kern="0" dirty="0">
                <a:solidFill>
                  <a:srgbClr val="2E54C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g</a:t>
            </a:r>
            <a:pPr algn="l" indent="0" marL="0">
              <a:lnSpc>
                <a:spcPts val="6056"/>
              </a:lnSpc>
              <a:buNone/>
            </a:pPr>
            <a:r>
              <a:rPr lang="en-US" sz="8250" spc="-225" kern="0" dirty="0">
                <a:solidFill>
                  <a:srgbClr val="2E54C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y</a:t>
            </a:r>
            <a:endParaRPr lang="en-US" sz="8250" dirty="0"/>
          </a:p>
        </p:txBody>
      </p:sp>
      <p:sp>
        <p:nvSpPr>
          <p:cNvPr id="12" name="name_02"/>
          <p:cNvSpPr/>
          <p:nvPr/>
        </p:nvSpPr>
        <p:spPr>
          <a:xfrm>
            <a:off x="17630775" y="9734550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0</a:t>
            </a:r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Wagglz"/>
          <p:cNvSpPr/>
          <p:nvPr/>
        </p:nvSpPr>
        <p:spPr>
          <a:xfrm>
            <a:off x="381000" y="9734550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Z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A6A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tangle 6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34500" y="1238250"/>
            <a:ext cx="8572500" cy="7496175"/>
          </a:xfrm>
          <a:prstGeom prst="rect">
            <a:avLst/>
          </a:prstGeom>
        </p:spPr>
      </p:pic>
      <p:pic>
        <p:nvPicPr>
          <p:cNvPr id="3" name="footer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9534523"/>
            <a:ext cx="17526000" cy="447677"/>
          </a:xfrm>
          <a:prstGeom prst="rect">
            <a:avLst/>
          </a:prstGeom>
        </p:spPr>
      </p:pic>
      <p:pic>
        <p:nvPicPr>
          <p:cNvPr id="4" name="Logo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000" y="352425"/>
            <a:ext cx="971550" cy="688860"/>
          </a:xfrm>
          <a:prstGeom prst="rect">
            <a:avLst/>
          </a:prstGeom>
        </p:spPr>
      </p:pic>
      <p:sp>
        <p:nvSpPr>
          <p:cNvPr id="5" name="Supported by a group of seasoned experts and driven by a fervor for progress in the tech field were reshaping the management and security of digital assets"/>
          <p:cNvSpPr/>
          <p:nvPr/>
        </p:nvSpPr>
        <p:spPr>
          <a:xfrm>
            <a:off x="381000" y="3533775"/>
            <a:ext cx="7810500" cy="5200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b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y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x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v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b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y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v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,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'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y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.</a:t>
            </a:r>
            <a:endParaRPr lang="en-US" sz="4500" dirty="0"/>
          </a:p>
        </p:txBody>
      </p:sp>
      <p:sp>
        <p:nvSpPr>
          <p:cNvPr id="6" name="name_02"/>
          <p:cNvSpPr/>
          <p:nvPr/>
        </p:nvSpPr>
        <p:spPr>
          <a:xfrm>
            <a:off x="17630775" y="9734549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0</a:t>
            </a:r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Wagglz"/>
          <p:cNvSpPr/>
          <p:nvPr/>
        </p:nvSpPr>
        <p:spPr>
          <a:xfrm>
            <a:off x="381000" y="9734549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Z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CFF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iley-burton-UbUOVEP6DQc-unsplash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pic>
        <p:nvPicPr>
          <p:cNvPr id="3" name="footer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9534523"/>
            <a:ext cx="17526000" cy="447677"/>
          </a:xfrm>
          <a:prstGeom prst="rect">
            <a:avLst/>
          </a:prstGeom>
        </p:spPr>
      </p:pic>
      <p:pic>
        <p:nvPicPr>
          <p:cNvPr id="4" name="Logo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000" y="352425"/>
            <a:ext cx="971550" cy="688860"/>
          </a:xfrm>
          <a:prstGeom prst="rect">
            <a:avLst/>
          </a:prstGeom>
        </p:spPr>
      </p:pic>
      <p:pic>
        <p:nvPicPr>
          <p:cNvPr id="5" name="Logo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675269" y="3635489"/>
            <a:ext cx="4249406" cy="3012960"/>
          </a:xfrm>
          <a:prstGeom prst="rect">
            <a:avLst/>
          </a:prstGeom>
        </p:spPr>
      </p:pic>
      <p:sp>
        <p:nvSpPr>
          <p:cNvPr id="6" name="The increasing complexity and security risks associated with managing digital assets in an interconnected world"/>
          <p:cNvSpPr/>
          <p:nvPr/>
        </p:nvSpPr>
        <p:spPr>
          <a:xfrm>
            <a:off x="381000" y="6124575"/>
            <a:ext cx="8048625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x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y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y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endParaRPr lang="en-US" sz="4500" dirty="0"/>
          </a:p>
        </p:txBody>
      </p:sp>
      <p:sp>
        <p:nvSpPr>
          <p:cNvPr id="7" name="name_02"/>
          <p:cNvSpPr/>
          <p:nvPr/>
        </p:nvSpPr>
        <p:spPr>
          <a:xfrm>
            <a:off x="17630775" y="9734549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0</a:t>
            </a:r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Wagglz"/>
          <p:cNvSpPr/>
          <p:nvPr/>
        </p:nvSpPr>
        <p:spPr>
          <a:xfrm>
            <a:off x="381000" y="9734549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Z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54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 9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590550"/>
            <a:ext cx="5591175" cy="8353425"/>
          </a:xfrm>
          <a:prstGeom prst="rect">
            <a:avLst/>
          </a:prstGeom>
        </p:spPr>
      </p:pic>
      <p:pic>
        <p:nvPicPr>
          <p:cNvPr id="3" name="Frame 1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43650" y="590550"/>
            <a:ext cx="5591175" cy="8353425"/>
          </a:xfrm>
          <a:prstGeom prst="rect">
            <a:avLst/>
          </a:prstGeom>
        </p:spPr>
      </p:pic>
      <p:pic>
        <p:nvPicPr>
          <p:cNvPr id="4" name="Frame 1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315825" y="590550"/>
            <a:ext cx="5591175" cy="8353425"/>
          </a:xfrm>
          <a:prstGeom prst="rect">
            <a:avLst/>
          </a:prstGeom>
        </p:spPr>
      </p:pic>
      <p:pic>
        <p:nvPicPr>
          <p:cNvPr id="5" name="footer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81000" y="9534523"/>
            <a:ext cx="17526000" cy="447677"/>
          </a:xfrm>
          <a:prstGeom prst="rect">
            <a:avLst/>
          </a:prstGeom>
        </p:spPr>
      </p:pic>
      <p:sp>
        <p:nvSpPr>
          <p:cNvPr id="6" name="name_32k"/>
          <p:cNvSpPr/>
          <p:nvPr/>
        </p:nvSpPr>
        <p:spPr>
          <a:xfrm>
            <a:off x="857250" y="971550"/>
            <a:ext cx="3067050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5"/>
              </a:lnSpc>
              <a:buNone/>
            </a:pPr>
            <a:r>
              <a:rPr lang="en-US" sz="14250" spc="-30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3</a:t>
            </a:r>
            <a:pPr algn="l" indent="0" marL="0">
              <a:lnSpc>
                <a:spcPts val="14535"/>
              </a:lnSpc>
              <a:buNone/>
            </a:pPr>
            <a:r>
              <a:rPr lang="en-US" sz="14250" spc="-30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2</a:t>
            </a:r>
            <a:pPr algn="l" indent="0" marL="0">
              <a:lnSpc>
                <a:spcPts val="14535"/>
              </a:lnSpc>
              <a:buNone/>
            </a:pPr>
            <a:r>
              <a:rPr lang="en-US" sz="14250" spc="-30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endParaRPr lang="en-US" sz="14250" dirty="0"/>
          </a:p>
        </p:txBody>
      </p:sp>
      <p:sp>
        <p:nvSpPr>
          <p:cNvPr id="7" name="asdads"/>
          <p:cNvSpPr/>
          <p:nvPr/>
        </p:nvSpPr>
        <p:spPr>
          <a:xfrm>
            <a:off x="857250" y="2857500"/>
            <a:ext cx="2152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endParaRPr lang="en-US" sz="4500" dirty="0"/>
          </a:p>
        </p:txBody>
      </p:sp>
      <p:sp>
        <p:nvSpPr>
          <p:cNvPr id="8" name="name_17"/>
          <p:cNvSpPr/>
          <p:nvPr/>
        </p:nvSpPr>
        <p:spPr>
          <a:xfrm>
            <a:off x="6819900" y="971550"/>
            <a:ext cx="2971800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5"/>
              </a:lnSpc>
              <a:buNone/>
            </a:pPr>
            <a:r>
              <a:rPr lang="en-US" sz="14250" spc="-30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1</a:t>
            </a:r>
            <a:pPr algn="l" indent="0" marL="0">
              <a:lnSpc>
                <a:spcPts val="14535"/>
              </a:lnSpc>
              <a:buNone/>
            </a:pPr>
            <a:r>
              <a:rPr lang="en-US" sz="14250" spc="-30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7</a:t>
            </a:r>
            <a:pPr algn="l" indent="0" marL="0">
              <a:lnSpc>
                <a:spcPts val="14535"/>
              </a:lnSpc>
              <a:buNone/>
            </a:pPr>
            <a:r>
              <a:rPr lang="en-US" sz="14250" spc="-30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%</a:t>
            </a:r>
            <a:endParaRPr lang="en-US" sz="14250" dirty="0"/>
          </a:p>
        </p:txBody>
      </p:sp>
      <p:sp>
        <p:nvSpPr>
          <p:cNvPr id="9" name="asdads"/>
          <p:cNvSpPr/>
          <p:nvPr/>
        </p:nvSpPr>
        <p:spPr>
          <a:xfrm>
            <a:off x="6819900" y="2857500"/>
            <a:ext cx="2152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endParaRPr lang="en-US" sz="4500" dirty="0"/>
          </a:p>
        </p:txBody>
      </p:sp>
      <p:sp>
        <p:nvSpPr>
          <p:cNvPr id="10" name="name_30K"/>
          <p:cNvSpPr/>
          <p:nvPr/>
        </p:nvSpPr>
        <p:spPr>
          <a:xfrm>
            <a:off x="12792075" y="971550"/>
            <a:ext cx="4438650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5"/>
              </a:lnSpc>
              <a:buNone/>
            </a:pPr>
            <a:r>
              <a:rPr lang="en-US" sz="14250" spc="-30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$</a:t>
            </a:r>
            <a:pPr algn="l" indent="0" marL="0">
              <a:lnSpc>
                <a:spcPts val="14535"/>
              </a:lnSpc>
              <a:buNone/>
            </a:pPr>
            <a:r>
              <a:rPr lang="en-US" sz="14250" spc="-30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3</a:t>
            </a:r>
            <a:pPr algn="l" indent="0" marL="0">
              <a:lnSpc>
                <a:spcPts val="14535"/>
              </a:lnSpc>
              <a:buNone/>
            </a:pPr>
            <a:r>
              <a:rPr lang="en-US" sz="14250" spc="-30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</a:t>
            </a:r>
            <a:pPr algn="l" indent="0" marL="0">
              <a:lnSpc>
                <a:spcPts val="14535"/>
              </a:lnSpc>
              <a:buNone/>
            </a:pPr>
            <a:r>
              <a:rPr lang="en-US" sz="14250" spc="-30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endParaRPr lang="en-US" sz="14250" dirty="0"/>
          </a:p>
        </p:txBody>
      </p:sp>
      <p:sp>
        <p:nvSpPr>
          <p:cNvPr id="11" name="asdads"/>
          <p:cNvSpPr/>
          <p:nvPr/>
        </p:nvSpPr>
        <p:spPr>
          <a:xfrm>
            <a:off x="12792075" y="2857500"/>
            <a:ext cx="2152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4972"/>
              </a:lnSpc>
              <a:buNone/>
            </a:pPr>
            <a:r>
              <a:rPr lang="en-US" sz="4500" spc="-150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endParaRPr lang="en-US" sz="4500" dirty="0"/>
          </a:p>
        </p:txBody>
      </p:sp>
      <p:sp>
        <p:nvSpPr>
          <p:cNvPr id="12" name="name_02"/>
          <p:cNvSpPr/>
          <p:nvPr/>
        </p:nvSpPr>
        <p:spPr>
          <a:xfrm>
            <a:off x="17630775" y="9734549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0</a:t>
            </a:r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Wagglz"/>
          <p:cNvSpPr/>
          <p:nvPr/>
        </p:nvSpPr>
        <p:spPr>
          <a:xfrm>
            <a:off x="381000" y="9734549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Z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54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 8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315825" y="1724025"/>
            <a:ext cx="5591175" cy="7181850"/>
          </a:xfrm>
          <a:prstGeom prst="rect">
            <a:avLst/>
          </a:prstGeom>
        </p:spPr>
      </p:pic>
      <p:pic>
        <p:nvPicPr>
          <p:cNvPr id="3" name="Frame 1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43650" y="3038475"/>
            <a:ext cx="5591175" cy="5867400"/>
          </a:xfrm>
          <a:prstGeom prst="rect">
            <a:avLst/>
          </a:prstGeom>
        </p:spPr>
      </p:pic>
      <p:pic>
        <p:nvPicPr>
          <p:cNvPr id="4" name="Frame 9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000" y="4581525"/>
            <a:ext cx="5591175" cy="4324350"/>
          </a:xfrm>
          <a:prstGeom prst="rect">
            <a:avLst/>
          </a:prstGeom>
        </p:spPr>
      </p:pic>
      <p:pic>
        <p:nvPicPr>
          <p:cNvPr id="5" name="footer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81000" y="9534525"/>
            <a:ext cx="17526000" cy="447677"/>
          </a:xfrm>
          <a:prstGeom prst="rect">
            <a:avLst/>
          </a:prstGeom>
        </p:spPr>
      </p:pic>
      <p:pic>
        <p:nvPicPr>
          <p:cNvPr id="6" name="Logo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81000" y="352425"/>
            <a:ext cx="971550" cy="688860"/>
          </a:xfrm>
          <a:prstGeom prst="rect">
            <a:avLst/>
          </a:prstGeom>
        </p:spPr>
      </p:pic>
      <p:sp>
        <p:nvSpPr>
          <p:cNvPr id="7" name="name_23M"/>
          <p:cNvSpPr/>
          <p:nvPr/>
        </p:nvSpPr>
        <p:spPr>
          <a:xfrm>
            <a:off x="12792075" y="3343275"/>
            <a:ext cx="2771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80"/>
              </a:lnSpc>
              <a:buNone/>
            </a:pPr>
            <a:r>
              <a:rPr lang="en-US" sz="9000" b="1" spc="-225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pPr algn="l" indent="0" marL="0">
              <a:lnSpc>
                <a:spcPts val="9180"/>
              </a:lnSpc>
              <a:buNone/>
            </a:pPr>
            <a:r>
              <a:rPr lang="en-US" sz="9000" b="1" spc="-225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,</a:t>
            </a:r>
            <a:pPr algn="l" indent="0" marL="0">
              <a:lnSpc>
                <a:spcPts val="9180"/>
              </a:lnSpc>
              <a:buNone/>
            </a:pPr>
            <a:r>
              <a:rPr lang="en-US" sz="9000" b="1" spc="-225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pPr algn="l" indent="0" marL="0">
              <a:lnSpc>
                <a:spcPts val="9180"/>
              </a:lnSpc>
              <a:buNone/>
            </a:pPr>
            <a:r>
              <a:rPr lang="en-US" sz="9000" b="1" spc="-225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</a:t>
            </a:r>
            <a:endParaRPr lang="en-US" sz="9000" dirty="0"/>
          </a:p>
        </p:txBody>
      </p:sp>
      <p:sp>
        <p:nvSpPr>
          <p:cNvPr id="8" name="Investment in Series B funding"/>
          <p:cNvSpPr/>
          <p:nvPr/>
        </p:nvSpPr>
        <p:spPr>
          <a:xfrm>
            <a:off x="12792075" y="4810125"/>
            <a:ext cx="4133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u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g</a:t>
            </a:r>
            <a:endParaRPr lang="en-US" sz="2250" dirty="0"/>
          </a:p>
        </p:txBody>
      </p:sp>
      <p:sp>
        <p:nvSpPr>
          <p:cNvPr id="9" name="name_1M"/>
          <p:cNvSpPr/>
          <p:nvPr/>
        </p:nvSpPr>
        <p:spPr>
          <a:xfrm>
            <a:off x="6819900" y="4657725"/>
            <a:ext cx="152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80"/>
              </a:lnSpc>
              <a:buNone/>
            </a:pPr>
            <a:r>
              <a:rPr lang="en-US" sz="9000" b="1" spc="-225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pPr algn="l" indent="0" marL="0">
              <a:lnSpc>
                <a:spcPts val="9180"/>
              </a:lnSpc>
              <a:buNone/>
            </a:pPr>
            <a:r>
              <a:rPr lang="en-US" sz="9000" b="1" spc="-225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</a:t>
            </a:r>
            <a:endParaRPr lang="en-US" sz="9000" dirty="0"/>
          </a:p>
        </p:txBody>
      </p:sp>
      <p:sp>
        <p:nvSpPr>
          <p:cNvPr id="10" name="Investment in Series A funding"/>
          <p:cNvSpPr/>
          <p:nvPr/>
        </p:nvSpPr>
        <p:spPr>
          <a:xfrm>
            <a:off x="6819900" y="6124575"/>
            <a:ext cx="4133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u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g</a:t>
            </a:r>
            <a:endParaRPr lang="en-US" sz="2250" dirty="0"/>
          </a:p>
        </p:txBody>
      </p:sp>
      <p:sp>
        <p:nvSpPr>
          <p:cNvPr id="11" name="name_500k"/>
          <p:cNvSpPr/>
          <p:nvPr/>
        </p:nvSpPr>
        <p:spPr>
          <a:xfrm>
            <a:off x="857250" y="6200775"/>
            <a:ext cx="3000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80"/>
              </a:lnSpc>
              <a:buNone/>
            </a:pPr>
            <a:r>
              <a:rPr lang="en-US" sz="9000" b="1" spc="-225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5</a:t>
            </a:r>
            <a:pPr algn="l" indent="0" marL="0">
              <a:lnSpc>
                <a:spcPts val="9180"/>
              </a:lnSpc>
              <a:buNone/>
            </a:pPr>
            <a:r>
              <a:rPr lang="en-US" sz="9000" b="1" spc="-225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</a:t>
            </a:r>
            <a:pPr algn="l" indent="0" marL="0">
              <a:lnSpc>
                <a:spcPts val="9180"/>
              </a:lnSpc>
              <a:buNone/>
            </a:pPr>
            <a:r>
              <a:rPr lang="en-US" sz="9000" b="1" spc="-225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</a:t>
            </a:r>
            <a:pPr algn="l" indent="0" marL="0">
              <a:lnSpc>
                <a:spcPts val="9180"/>
              </a:lnSpc>
              <a:buNone/>
            </a:pPr>
            <a:r>
              <a:rPr lang="en-US" sz="9000" b="1" spc="-225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k</a:t>
            </a:r>
            <a:endParaRPr lang="en-US" sz="9000" dirty="0"/>
          </a:p>
        </p:txBody>
      </p:sp>
      <p:sp>
        <p:nvSpPr>
          <p:cNvPr id="12" name="Seed funding"/>
          <p:cNvSpPr/>
          <p:nvPr/>
        </p:nvSpPr>
        <p:spPr>
          <a:xfrm>
            <a:off x="857250" y="7667625"/>
            <a:ext cx="46291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u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</a:t>
            </a:r>
            <a:pPr algn="l" indent="0" marL="0">
              <a:lnSpc>
                <a:spcPts val="2486"/>
              </a:lnSpc>
              <a:buNone/>
            </a:pPr>
            <a:r>
              <a:rPr lang="en-US" sz="2250" spc="-75" kern="0" dirty="0">
                <a:solidFill>
                  <a:srgbClr val="2E54CE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g</a:t>
            </a:r>
            <a:endParaRPr lang="en-US" sz="2250" dirty="0"/>
          </a:p>
        </p:txBody>
      </p:sp>
      <p:sp>
        <p:nvSpPr>
          <p:cNvPr id="13" name="Investors trusting us from the beginning of our endeavour"/>
          <p:cNvSpPr/>
          <p:nvPr/>
        </p:nvSpPr>
        <p:spPr>
          <a:xfrm>
            <a:off x="381000" y="1876425"/>
            <a:ext cx="516255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u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g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u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g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g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u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u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</a:t>
            </a:r>
            <a:endParaRPr lang="en-US" sz="3000" dirty="0"/>
          </a:p>
        </p:txBody>
      </p:sp>
      <p:sp>
        <p:nvSpPr>
          <p:cNvPr id="14" name="name_02"/>
          <p:cNvSpPr/>
          <p:nvPr/>
        </p:nvSpPr>
        <p:spPr>
          <a:xfrm>
            <a:off x="17630775" y="9734551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0</a:t>
            </a:r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Wagglz"/>
          <p:cNvSpPr/>
          <p:nvPr/>
        </p:nvSpPr>
        <p:spPr>
          <a:xfrm>
            <a:off x="381000" y="9734551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Z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A6A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 427319025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801350" y="1009650"/>
            <a:ext cx="6972300" cy="6972300"/>
          </a:xfrm>
          <a:prstGeom prst="rect">
            <a:avLst/>
          </a:prstGeom>
        </p:spPr>
      </p:pic>
      <p:pic>
        <p:nvPicPr>
          <p:cNvPr id="3" name="Frame 427319026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95950" y="1114425"/>
            <a:ext cx="4752975" cy="4752975"/>
          </a:xfrm>
          <a:prstGeom prst="rect">
            <a:avLst/>
          </a:prstGeom>
        </p:spPr>
      </p:pic>
      <p:pic>
        <p:nvPicPr>
          <p:cNvPr id="4" name="Frame 427319027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81950" y="5953125"/>
            <a:ext cx="3324225" cy="3324225"/>
          </a:xfrm>
          <a:prstGeom prst="rect">
            <a:avLst/>
          </a:prstGeom>
        </p:spPr>
      </p:pic>
      <p:pic>
        <p:nvPicPr>
          <p:cNvPr id="5" name="Logo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81000" y="352425"/>
            <a:ext cx="971550" cy="688860"/>
          </a:xfrm>
          <a:prstGeom prst="rect">
            <a:avLst/>
          </a:prstGeom>
        </p:spPr>
      </p:pic>
      <p:pic>
        <p:nvPicPr>
          <p:cNvPr id="6" name="footer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81000" y="9534525"/>
            <a:ext cx="17526000" cy="447677"/>
          </a:xfrm>
          <a:prstGeom prst="rect">
            <a:avLst/>
          </a:prstGeom>
        </p:spPr>
      </p:pic>
      <p:sp>
        <p:nvSpPr>
          <p:cNvPr id="7" name="name_32B"/>
          <p:cNvSpPr/>
          <p:nvPr/>
        </p:nvSpPr>
        <p:spPr>
          <a:xfrm>
            <a:off x="12906375" y="3400425"/>
            <a:ext cx="276225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240"/>
              </a:lnSpc>
              <a:buNone/>
            </a:pPr>
            <a:r>
              <a:rPr lang="en-US" sz="12000" spc="-300" kern="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3</a:t>
            </a:r>
            <a:pPr algn="ctr" indent="0" marL="0">
              <a:lnSpc>
                <a:spcPts val="12240"/>
              </a:lnSpc>
              <a:buNone/>
            </a:pPr>
            <a:r>
              <a:rPr lang="en-US" sz="12000" spc="-300" kern="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.</a:t>
            </a:r>
            <a:pPr algn="ctr" indent="0" marL="0">
              <a:lnSpc>
                <a:spcPts val="12240"/>
              </a:lnSpc>
              <a:buNone/>
            </a:pPr>
            <a:r>
              <a:rPr lang="en-US" sz="12000" spc="-300" kern="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2</a:t>
            </a:r>
            <a:pPr algn="ctr" indent="0" marL="0">
              <a:lnSpc>
                <a:spcPts val="12240"/>
              </a:lnSpc>
              <a:buNone/>
            </a:pPr>
            <a:r>
              <a:rPr lang="en-US" sz="12000" spc="-300" kern="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B</a:t>
            </a:r>
            <a:endParaRPr lang="en-US" sz="12000" dirty="0"/>
          </a:p>
        </p:txBody>
      </p:sp>
      <p:sp>
        <p:nvSpPr>
          <p:cNvPr id="8" name="Market opportunity"/>
          <p:cNvSpPr/>
          <p:nvPr/>
        </p:nvSpPr>
        <p:spPr>
          <a:xfrm>
            <a:off x="12720638" y="5181600"/>
            <a:ext cx="32289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M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a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r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k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e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t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o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p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p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o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r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t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u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n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i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t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CCFFB0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y</a:t>
            </a:r>
            <a:endParaRPr lang="en-US" sz="3000" dirty="0"/>
          </a:p>
        </p:txBody>
      </p:sp>
      <p:sp>
        <p:nvSpPr>
          <p:cNvPr id="9" name="name_36"/>
          <p:cNvSpPr/>
          <p:nvPr/>
        </p:nvSpPr>
        <p:spPr>
          <a:xfrm>
            <a:off x="7191375" y="2657475"/>
            <a:ext cx="18573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650"/>
              </a:lnSpc>
              <a:buNone/>
            </a:pPr>
            <a:r>
              <a:rPr lang="en-US" sz="7500" spc="-150" kern="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3</a:t>
            </a:r>
            <a:pPr algn="ctr" indent="0" marL="0">
              <a:lnSpc>
                <a:spcPts val="7650"/>
              </a:lnSpc>
              <a:buNone/>
            </a:pPr>
            <a:r>
              <a:rPr lang="en-US" sz="7500" spc="-150" kern="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6</a:t>
            </a:r>
            <a:pPr algn="ctr" indent="0" marL="0">
              <a:lnSpc>
                <a:spcPts val="7650"/>
              </a:lnSpc>
              <a:buNone/>
            </a:pPr>
            <a:r>
              <a:rPr lang="en-US" sz="7500" spc="-150" kern="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%</a:t>
            </a:r>
            <a:endParaRPr lang="en-US" sz="7500" dirty="0"/>
          </a:p>
        </p:txBody>
      </p:sp>
      <p:sp>
        <p:nvSpPr>
          <p:cNvPr id="10" name="expected growth"/>
          <p:cNvSpPr/>
          <p:nvPr/>
        </p:nvSpPr>
        <p:spPr>
          <a:xfrm>
            <a:off x="6734175" y="3714750"/>
            <a:ext cx="2857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e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x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p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e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c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t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e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d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g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r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o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w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t</a:t>
            </a:r>
            <a:pPr algn="l" indent="0" marL="0">
              <a:lnSpc>
                <a:spcPts val="331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h</a:t>
            </a:r>
            <a:endParaRPr lang="en-US" sz="3000" dirty="0"/>
          </a:p>
        </p:txBody>
      </p:sp>
      <p:sp>
        <p:nvSpPr>
          <p:cNvPr id="11" name="RR"/>
          <p:cNvSpPr/>
          <p:nvPr/>
        </p:nvSpPr>
        <p:spPr>
          <a:xfrm>
            <a:off x="381000" y="5953125"/>
            <a:ext cx="5638800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v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y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b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CCFFB0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5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CCFFB0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CCFFB0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CCFFB0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CCFFB0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b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CCFFB0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CCFFB0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CCFFB0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CCFFB0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CCFFB0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CCFFB0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CCFFB0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CCFFB0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CCFFB0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v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-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v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-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2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</a:t>
            </a:r>
            <a:pPr algn="l" indent="0" marL="0">
              <a:lnSpc>
                <a:spcPts val="4208"/>
              </a:lnSpc>
              <a:buNone/>
            </a:pPr>
            <a:r>
              <a:rPr lang="en-US" sz="4125" spc="-150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%</a:t>
            </a:r>
            <a:endParaRPr lang="en-US" sz="4125" dirty="0"/>
          </a:p>
        </p:txBody>
      </p:sp>
      <p:sp>
        <p:nvSpPr>
          <p:cNvPr id="12" name="name_12"/>
          <p:cNvSpPr/>
          <p:nvPr/>
        </p:nvSpPr>
        <p:spPr>
          <a:xfrm>
            <a:off x="8886825" y="6896100"/>
            <a:ext cx="1619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650"/>
              </a:lnSpc>
              <a:buNone/>
            </a:pPr>
            <a:r>
              <a:rPr lang="en-US" sz="7500" spc="-150" kern="0" dirty="0">
                <a:solidFill>
                  <a:srgbClr val="F6F6FF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1</a:t>
            </a:r>
            <a:pPr algn="ctr" indent="0" marL="0">
              <a:lnSpc>
                <a:spcPts val="7650"/>
              </a:lnSpc>
              <a:buNone/>
            </a:pPr>
            <a:r>
              <a:rPr lang="en-US" sz="7500" spc="-150" kern="0" dirty="0">
                <a:solidFill>
                  <a:srgbClr val="F6F6FF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2</a:t>
            </a:r>
            <a:pPr algn="ctr" indent="0" marL="0">
              <a:lnSpc>
                <a:spcPts val="7650"/>
              </a:lnSpc>
              <a:buNone/>
            </a:pPr>
            <a:r>
              <a:rPr lang="en-US" sz="7500" spc="-150" kern="0" dirty="0">
                <a:solidFill>
                  <a:srgbClr val="F6F6FF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%</a:t>
            </a:r>
            <a:endParaRPr lang="en-US" sz="7500" dirty="0"/>
          </a:p>
        </p:txBody>
      </p:sp>
      <p:sp>
        <p:nvSpPr>
          <p:cNvPr id="13" name="Market share"/>
          <p:cNvSpPr/>
          <p:nvPr/>
        </p:nvSpPr>
        <p:spPr>
          <a:xfrm>
            <a:off x="8848725" y="7962900"/>
            <a:ext cx="19240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6"/>
              </a:lnSpc>
              <a:buNone/>
            </a:pPr>
            <a:r>
              <a:rPr lang="en-US" sz="225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2486"/>
              </a:lnSpc>
              <a:buNone/>
            </a:pPr>
            <a:r>
              <a:rPr lang="en-US" sz="225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486"/>
              </a:lnSpc>
              <a:buNone/>
            </a:pPr>
            <a:r>
              <a:rPr lang="en-US" sz="225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486"/>
              </a:lnSpc>
              <a:buNone/>
            </a:pPr>
            <a:r>
              <a:rPr lang="en-US" sz="225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pPr algn="l" indent="0" marL="0">
              <a:lnSpc>
                <a:spcPts val="2486"/>
              </a:lnSpc>
              <a:buNone/>
            </a:pPr>
            <a:r>
              <a:rPr lang="en-US" sz="225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486"/>
              </a:lnSpc>
              <a:buNone/>
            </a:pPr>
            <a:r>
              <a:rPr lang="en-US" sz="225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486"/>
              </a:lnSpc>
              <a:buNone/>
            </a:pPr>
            <a:r>
              <a:rPr lang="en-US" sz="225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486"/>
              </a:lnSpc>
              <a:buNone/>
            </a:pPr>
            <a:r>
              <a:rPr lang="en-US" sz="225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486"/>
              </a:lnSpc>
              <a:buNone/>
            </a:pPr>
            <a:r>
              <a:rPr lang="en-US" sz="225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486"/>
              </a:lnSpc>
              <a:buNone/>
            </a:pPr>
            <a:r>
              <a:rPr lang="en-US" sz="225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486"/>
              </a:lnSpc>
              <a:buNone/>
            </a:pPr>
            <a:r>
              <a:rPr lang="en-US" sz="225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486"/>
              </a:lnSpc>
              <a:buNone/>
            </a:pPr>
            <a:r>
              <a:rPr lang="en-US" sz="225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endParaRPr lang="en-US" sz="2250" dirty="0"/>
          </a:p>
        </p:txBody>
      </p:sp>
      <p:sp>
        <p:nvSpPr>
          <p:cNvPr id="14" name="name_02"/>
          <p:cNvSpPr/>
          <p:nvPr/>
        </p:nvSpPr>
        <p:spPr>
          <a:xfrm>
            <a:off x="17630775" y="9734551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0</a:t>
            </a:r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Wagglz"/>
          <p:cNvSpPr/>
          <p:nvPr/>
        </p:nvSpPr>
        <p:spPr>
          <a:xfrm>
            <a:off x="381000" y="9734551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Z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ata 4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0" y="5524500"/>
            <a:ext cx="4572000" cy="4762500"/>
          </a:xfrm>
          <a:prstGeom prst="rect">
            <a:avLst/>
          </a:prstGeom>
        </p:spPr>
      </p:pic>
      <p:pic>
        <p:nvPicPr>
          <p:cNvPr id="3" name="Data 3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44000" y="5524500"/>
            <a:ext cx="4572000" cy="4762500"/>
          </a:xfrm>
          <a:prstGeom prst="rect">
            <a:avLst/>
          </a:prstGeom>
        </p:spPr>
      </p:pic>
      <p:pic>
        <p:nvPicPr>
          <p:cNvPr id="4" name="Data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0" y="5524500"/>
            <a:ext cx="4572000" cy="4762500"/>
          </a:xfrm>
          <a:prstGeom prst="rect">
            <a:avLst/>
          </a:prstGeom>
        </p:spPr>
      </p:pic>
      <p:pic>
        <p:nvPicPr>
          <p:cNvPr id="5" name="Data 1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0" y="5524500"/>
            <a:ext cx="4572000" cy="4762500"/>
          </a:xfrm>
          <a:prstGeom prst="rect">
            <a:avLst/>
          </a:prstGeom>
        </p:spPr>
      </p:pic>
      <p:pic>
        <p:nvPicPr>
          <p:cNvPr id="6" name="Background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0" y="0"/>
            <a:ext cx="18288000" cy="5524500"/>
          </a:xfrm>
          <a:prstGeom prst="rect">
            <a:avLst/>
          </a:prstGeom>
        </p:spPr>
      </p:pic>
      <p:pic>
        <p:nvPicPr>
          <p:cNvPr id="7" name="footer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81000" y="9534525"/>
            <a:ext cx="17526000" cy="447677"/>
          </a:xfrm>
          <a:prstGeom prst="rect">
            <a:avLst/>
          </a:prstGeom>
        </p:spPr>
      </p:pic>
      <p:pic>
        <p:nvPicPr>
          <p:cNvPr id="8" name="Logo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81000" y="352425"/>
            <a:ext cx="971550" cy="688860"/>
          </a:xfrm>
          <a:prstGeom prst="rect">
            <a:avLst/>
          </a:prstGeom>
        </p:spPr>
      </p:pic>
      <p:sp>
        <p:nvSpPr>
          <p:cNvPr id="9" name="average rating"/>
          <p:cNvSpPr/>
          <p:nvPr/>
        </p:nvSpPr>
        <p:spPr>
          <a:xfrm>
            <a:off x="14097000" y="8772525"/>
            <a:ext cx="33813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</a:t>
            </a:r>
            <a:endParaRPr lang="en-US" sz="3000" dirty="0"/>
          </a:p>
        </p:txBody>
      </p:sp>
      <p:sp>
        <p:nvSpPr>
          <p:cNvPr id="10" name="name_49"/>
          <p:cNvSpPr/>
          <p:nvPr/>
        </p:nvSpPr>
        <p:spPr>
          <a:xfrm>
            <a:off x="14097000" y="7724775"/>
            <a:ext cx="338137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94"/>
              </a:lnSpc>
              <a:buNone/>
            </a:pPr>
            <a:r>
              <a:rPr lang="en-US" sz="75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4</a:t>
            </a:r>
            <a:pPr algn="l" indent="0" marL="0">
              <a:lnSpc>
                <a:spcPts val="6694"/>
              </a:lnSpc>
              <a:buNone/>
            </a:pPr>
            <a:r>
              <a:rPr lang="en-US" sz="75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.</a:t>
            </a:r>
            <a:pPr algn="l" indent="0" marL="0">
              <a:lnSpc>
                <a:spcPts val="6694"/>
              </a:lnSpc>
              <a:buNone/>
            </a:pPr>
            <a:r>
              <a:rPr lang="en-US" sz="75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9</a:t>
            </a:r>
            <a:endParaRPr lang="en-US" sz="7500" dirty="0"/>
          </a:p>
        </p:txBody>
      </p:sp>
      <p:sp>
        <p:nvSpPr>
          <p:cNvPr id="11" name="new customers"/>
          <p:cNvSpPr/>
          <p:nvPr/>
        </p:nvSpPr>
        <p:spPr>
          <a:xfrm>
            <a:off x="9525000" y="8772525"/>
            <a:ext cx="33813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endParaRPr lang="en-US" sz="3000" dirty="0"/>
          </a:p>
        </p:txBody>
      </p:sp>
      <p:sp>
        <p:nvSpPr>
          <p:cNvPr id="12" name="name_90K"/>
          <p:cNvSpPr/>
          <p:nvPr/>
        </p:nvSpPr>
        <p:spPr>
          <a:xfrm>
            <a:off x="9525000" y="7724775"/>
            <a:ext cx="338137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94"/>
              </a:lnSpc>
              <a:buNone/>
            </a:pPr>
            <a:r>
              <a:rPr lang="en-US" sz="75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9</a:t>
            </a:r>
            <a:pPr algn="l" indent="0" marL="0">
              <a:lnSpc>
                <a:spcPts val="6694"/>
              </a:lnSpc>
              <a:buNone/>
            </a:pPr>
            <a:r>
              <a:rPr lang="en-US" sz="75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</a:t>
            </a:r>
            <a:pPr algn="l" indent="0" marL="0">
              <a:lnSpc>
                <a:spcPts val="6694"/>
              </a:lnSpc>
              <a:buNone/>
            </a:pPr>
            <a:r>
              <a:rPr lang="en-US" sz="75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</a:t>
            </a:r>
            <a:endParaRPr lang="en-US" sz="7500" dirty="0"/>
          </a:p>
        </p:txBody>
      </p:sp>
      <p:sp>
        <p:nvSpPr>
          <p:cNvPr id="13" name="total revenue"/>
          <p:cNvSpPr/>
          <p:nvPr/>
        </p:nvSpPr>
        <p:spPr>
          <a:xfrm>
            <a:off x="4953000" y="8772525"/>
            <a:ext cx="33813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endParaRPr lang="en-US" sz="3000" dirty="0"/>
          </a:p>
        </p:txBody>
      </p:sp>
      <p:sp>
        <p:nvSpPr>
          <p:cNvPr id="14" name="name_35M"/>
          <p:cNvSpPr/>
          <p:nvPr/>
        </p:nvSpPr>
        <p:spPr>
          <a:xfrm>
            <a:off x="4953000" y="7724775"/>
            <a:ext cx="338137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94"/>
              </a:lnSpc>
              <a:buNone/>
            </a:pPr>
            <a:r>
              <a:rPr lang="en-US" sz="75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$</a:t>
            </a:r>
            <a:pPr algn="l" indent="0" marL="0">
              <a:lnSpc>
                <a:spcPts val="6694"/>
              </a:lnSpc>
              <a:buNone/>
            </a:pPr>
            <a:r>
              <a:rPr lang="en-US" sz="75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3</a:t>
            </a:r>
            <a:pPr algn="l" indent="0" marL="0">
              <a:lnSpc>
                <a:spcPts val="6694"/>
              </a:lnSpc>
              <a:buNone/>
            </a:pPr>
            <a:r>
              <a:rPr lang="en-US" sz="75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.</a:t>
            </a:r>
            <a:pPr algn="l" indent="0" marL="0">
              <a:lnSpc>
                <a:spcPts val="6694"/>
              </a:lnSpc>
              <a:buNone/>
            </a:pPr>
            <a:r>
              <a:rPr lang="en-US" sz="75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</a:t>
            </a:r>
            <a:pPr algn="l" indent="0" marL="0">
              <a:lnSpc>
                <a:spcPts val="6694"/>
              </a:lnSpc>
              <a:buNone/>
            </a:pPr>
            <a:r>
              <a:rPr lang="en-US" sz="75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</a:t>
            </a:r>
            <a:endParaRPr lang="en-US" sz="7500" dirty="0"/>
          </a:p>
        </p:txBody>
      </p:sp>
      <p:sp>
        <p:nvSpPr>
          <p:cNvPr id="15" name="new offices"/>
          <p:cNvSpPr/>
          <p:nvPr/>
        </p:nvSpPr>
        <p:spPr>
          <a:xfrm>
            <a:off x="381000" y="8772525"/>
            <a:ext cx="33813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104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endParaRPr lang="en-US" sz="3000" dirty="0"/>
          </a:p>
        </p:txBody>
      </p:sp>
      <p:sp>
        <p:nvSpPr>
          <p:cNvPr id="16" name="name_30"/>
          <p:cNvSpPr/>
          <p:nvPr/>
        </p:nvSpPr>
        <p:spPr>
          <a:xfrm>
            <a:off x="381000" y="7724775"/>
            <a:ext cx="338137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94"/>
              </a:lnSpc>
              <a:buNone/>
            </a:pPr>
            <a:r>
              <a:rPr lang="en-US" sz="75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3</a:t>
            </a:r>
            <a:pPr algn="l" indent="0" marL="0">
              <a:lnSpc>
                <a:spcPts val="6694"/>
              </a:lnSpc>
              <a:buNone/>
            </a:pPr>
            <a:r>
              <a:rPr lang="en-US" sz="75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</a:t>
            </a:r>
            <a:endParaRPr lang="en-US" sz="7500" dirty="0"/>
          </a:p>
        </p:txBody>
      </p:sp>
      <p:sp>
        <p:nvSpPr>
          <p:cNvPr id="17" name="Company report"/>
          <p:cNvSpPr/>
          <p:nvPr/>
        </p:nvSpPr>
        <p:spPr>
          <a:xfrm>
            <a:off x="381000" y="3076575"/>
            <a:ext cx="164401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13"/>
              </a:lnSpc>
              <a:buNone/>
            </a:pPr>
            <a:r>
              <a:rPr lang="en-US" sz="14250" b="1" spc="-450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</a:t>
            </a:r>
            <a:pPr algn="l" indent="0" marL="0">
              <a:lnSpc>
                <a:spcPts val="12113"/>
              </a:lnSpc>
              <a:buNone/>
            </a:pPr>
            <a:r>
              <a:rPr lang="en-US" sz="14250" b="1" spc="-450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</a:t>
            </a:r>
            <a:pPr algn="l" indent="0" marL="0">
              <a:lnSpc>
                <a:spcPts val="12113"/>
              </a:lnSpc>
              <a:buNone/>
            </a:pPr>
            <a:r>
              <a:rPr lang="en-US" sz="14250" b="1" spc="-450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</a:t>
            </a:r>
            <a:pPr algn="l" indent="0" marL="0">
              <a:lnSpc>
                <a:spcPts val="12113"/>
              </a:lnSpc>
              <a:buNone/>
            </a:pPr>
            <a:r>
              <a:rPr lang="en-US" sz="14250" b="1" spc="-450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</a:t>
            </a:r>
            <a:pPr algn="l" indent="0" marL="0">
              <a:lnSpc>
                <a:spcPts val="12113"/>
              </a:lnSpc>
              <a:buNone/>
            </a:pPr>
            <a:r>
              <a:rPr lang="en-US" sz="14250" b="1" spc="-450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</a:t>
            </a:r>
            <a:pPr algn="l" indent="0" marL="0">
              <a:lnSpc>
                <a:spcPts val="12113"/>
              </a:lnSpc>
              <a:buNone/>
            </a:pPr>
            <a:r>
              <a:rPr lang="en-US" sz="14250" b="1" spc="-450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</a:t>
            </a:r>
            <a:pPr algn="l" indent="0" marL="0">
              <a:lnSpc>
                <a:spcPts val="12113"/>
              </a:lnSpc>
              <a:buNone/>
            </a:pPr>
            <a:r>
              <a:rPr lang="en-US" sz="14250" b="1" spc="-450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y</a:t>
            </a:r>
            <a:pPr algn="l" indent="0" marL="0">
              <a:lnSpc>
                <a:spcPts val="12113"/>
              </a:lnSpc>
              <a:buNone/>
            </a:pPr>
            <a:r>
              <a:rPr lang="en-US" sz="14250" b="1" spc="-450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pPr algn="l" indent="0" marL="0">
              <a:lnSpc>
                <a:spcPts val="12113"/>
              </a:lnSpc>
              <a:buNone/>
            </a:pPr>
            <a:r>
              <a:rPr lang="en-US" sz="14250" b="1" spc="-450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</a:t>
            </a:r>
            <a:pPr algn="l" indent="0" marL="0">
              <a:lnSpc>
                <a:spcPts val="12113"/>
              </a:lnSpc>
              <a:buNone/>
            </a:pPr>
            <a:r>
              <a:rPr lang="en-US" sz="14250" b="1" spc="-450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</a:t>
            </a:r>
            <a:pPr algn="l" indent="0" marL="0">
              <a:lnSpc>
                <a:spcPts val="12113"/>
              </a:lnSpc>
              <a:buNone/>
            </a:pPr>
            <a:r>
              <a:rPr lang="en-US" sz="14250" b="1" spc="-450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</a:t>
            </a:r>
            <a:pPr algn="l" indent="0" marL="0">
              <a:lnSpc>
                <a:spcPts val="12113"/>
              </a:lnSpc>
              <a:buNone/>
            </a:pPr>
            <a:r>
              <a:rPr lang="en-US" sz="14250" b="1" spc="-450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</a:t>
            </a:r>
            <a:pPr algn="l" indent="0" marL="0">
              <a:lnSpc>
                <a:spcPts val="12113"/>
              </a:lnSpc>
              <a:buNone/>
            </a:pPr>
            <a:r>
              <a:rPr lang="en-US" sz="14250" b="1" spc="-450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</a:t>
            </a:r>
            <a:pPr algn="l" indent="0" marL="0">
              <a:lnSpc>
                <a:spcPts val="12113"/>
              </a:lnSpc>
              <a:buNone/>
            </a:pPr>
            <a:r>
              <a:rPr lang="en-US" sz="14250" b="1" spc="-450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</a:t>
            </a:r>
            <a:endParaRPr lang="en-US" sz="14250" dirty="0"/>
          </a:p>
        </p:txBody>
      </p:sp>
      <p:sp>
        <p:nvSpPr>
          <p:cNvPr id="18" name="name_02"/>
          <p:cNvSpPr/>
          <p:nvPr/>
        </p:nvSpPr>
        <p:spPr>
          <a:xfrm>
            <a:off x="17630775" y="9734551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0</a:t>
            </a:r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Wagglz"/>
          <p:cNvSpPr/>
          <p:nvPr/>
        </p:nvSpPr>
        <p:spPr>
          <a:xfrm>
            <a:off x="381000" y="9734551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Z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54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oup 427319263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28725" y="1990725"/>
            <a:ext cx="4286250" cy="4286251"/>
          </a:xfrm>
          <a:prstGeom prst="rect">
            <a:avLst/>
          </a:prstGeom>
        </p:spPr>
      </p:pic>
      <p:pic>
        <p:nvPicPr>
          <p:cNvPr id="3" name="Group 427319267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372975" y="1590675"/>
            <a:ext cx="5086350" cy="5086350"/>
          </a:xfrm>
          <a:prstGeom prst="rect">
            <a:avLst/>
          </a:prstGeom>
        </p:spPr>
      </p:pic>
      <p:pic>
        <p:nvPicPr>
          <p:cNvPr id="4" name="Group 427319265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00870" y="1962150"/>
            <a:ext cx="4286259" cy="4286250"/>
          </a:xfrm>
          <a:prstGeom prst="rect">
            <a:avLst/>
          </a:prstGeom>
        </p:spPr>
      </p:pic>
      <p:pic>
        <p:nvPicPr>
          <p:cNvPr id="5" name="Frame 427318989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281238" y="3200400"/>
            <a:ext cx="2171700" cy="1809750"/>
          </a:xfrm>
          <a:prstGeom prst="rect">
            <a:avLst/>
          </a:prstGeom>
        </p:spPr>
      </p:pic>
      <p:pic>
        <p:nvPicPr>
          <p:cNvPr id="6" name="Frame 427318990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3639800" y="3200400"/>
            <a:ext cx="2562225" cy="1809750"/>
          </a:xfrm>
          <a:prstGeom prst="rect">
            <a:avLst/>
          </a:prstGeom>
        </p:spPr>
      </p:pic>
      <p:pic>
        <p:nvPicPr>
          <p:cNvPr id="7" name="Frame 427318991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43863" y="3200400"/>
            <a:ext cx="2266950" cy="1809750"/>
          </a:xfrm>
          <a:prstGeom prst="rect">
            <a:avLst/>
          </a:prstGeom>
        </p:spPr>
      </p:pic>
      <p:pic>
        <p:nvPicPr>
          <p:cNvPr id="8" name="Logo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81000" y="352425"/>
            <a:ext cx="971550" cy="688860"/>
          </a:xfrm>
          <a:prstGeom prst="rect">
            <a:avLst/>
          </a:prstGeom>
        </p:spPr>
      </p:pic>
      <p:pic>
        <p:nvPicPr>
          <p:cNvPr id="9" name="footer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81000" y="9534525"/>
            <a:ext cx="17526000" cy="447677"/>
          </a:xfrm>
          <a:prstGeom prst="rect">
            <a:avLst/>
          </a:prstGeom>
        </p:spPr>
      </p:pic>
      <p:sp>
        <p:nvSpPr>
          <p:cNvPr id="10" name="name_79"/>
          <p:cNvSpPr/>
          <p:nvPr/>
        </p:nvSpPr>
        <p:spPr>
          <a:xfrm>
            <a:off x="2247900" y="3200400"/>
            <a:ext cx="2238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80"/>
              </a:lnSpc>
              <a:buNone/>
            </a:pPr>
            <a:r>
              <a:rPr lang="en-US" sz="9000" spc="-22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7</a:t>
            </a:r>
            <a:pPr algn="ctr" indent="0" marL="0">
              <a:lnSpc>
                <a:spcPts val="9180"/>
              </a:lnSpc>
              <a:buNone/>
            </a:pPr>
            <a:r>
              <a:rPr lang="en-US" sz="9000" spc="-22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9</a:t>
            </a:r>
            <a:pPr algn="ctr" indent="0" marL="0">
              <a:lnSpc>
                <a:spcPts val="9180"/>
              </a:lnSpc>
              <a:buNone/>
            </a:pPr>
            <a:r>
              <a:rPr lang="en-US" sz="9000" spc="-22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%</a:t>
            </a:r>
            <a:endParaRPr lang="en-US" sz="9000" dirty="0"/>
          </a:p>
        </p:txBody>
      </p:sp>
      <p:sp>
        <p:nvSpPr>
          <p:cNvPr id="11" name="margins"/>
          <p:cNvSpPr/>
          <p:nvPr/>
        </p:nvSpPr>
        <p:spPr>
          <a:xfrm>
            <a:off x="2847975" y="4724400"/>
            <a:ext cx="1095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endParaRPr lang="en-US" sz="1875" dirty="0"/>
          </a:p>
        </p:txBody>
      </p:sp>
      <p:sp>
        <p:nvSpPr>
          <p:cNvPr id="12" name="name_135"/>
          <p:cNvSpPr/>
          <p:nvPr/>
        </p:nvSpPr>
        <p:spPr>
          <a:xfrm>
            <a:off x="13601700" y="3200400"/>
            <a:ext cx="26479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80"/>
              </a:lnSpc>
              <a:buNone/>
            </a:pPr>
            <a:r>
              <a:rPr lang="en-US" sz="9000" spc="-22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1</a:t>
            </a:r>
            <a:pPr algn="ctr" indent="0" marL="0">
              <a:lnSpc>
                <a:spcPts val="9180"/>
              </a:lnSpc>
              <a:buNone/>
            </a:pPr>
            <a:r>
              <a:rPr lang="en-US" sz="9000" spc="-22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3</a:t>
            </a:r>
            <a:pPr algn="ctr" indent="0" marL="0">
              <a:lnSpc>
                <a:spcPts val="9180"/>
              </a:lnSpc>
              <a:buNone/>
            </a:pPr>
            <a:r>
              <a:rPr lang="en-US" sz="9000" spc="-22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5</a:t>
            </a:r>
            <a:pPr algn="ctr" indent="0" marL="0">
              <a:lnSpc>
                <a:spcPts val="9180"/>
              </a:lnSpc>
              <a:buNone/>
            </a:pPr>
            <a:r>
              <a:rPr lang="en-US" sz="9000" spc="-22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%</a:t>
            </a:r>
            <a:endParaRPr lang="en-US" sz="9000" dirty="0"/>
          </a:p>
        </p:txBody>
      </p:sp>
      <p:sp>
        <p:nvSpPr>
          <p:cNvPr id="13" name="net retention"/>
          <p:cNvSpPr/>
          <p:nvPr/>
        </p:nvSpPr>
        <p:spPr>
          <a:xfrm>
            <a:off x="14092238" y="4724400"/>
            <a:ext cx="171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endParaRPr lang="en-US" sz="1875" dirty="0"/>
          </a:p>
        </p:txBody>
      </p:sp>
      <p:sp>
        <p:nvSpPr>
          <p:cNvPr id="14" name="name_89"/>
          <p:cNvSpPr/>
          <p:nvPr/>
        </p:nvSpPr>
        <p:spPr>
          <a:xfrm>
            <a:off x="8010525" y="3200400"/>
            <a:ext cx="2343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80"/>
              </a:lnSpc>
              <a:buNone/>
            </a:pPr>
            <a:r>
              <a:rPr lang="en-US" sz="9000" spc="-22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8</a:t>
            </a:r>
            <a:pPr algn="ctr" indent="0" marL="0">
              <a:lnSpc>
                <a:spcPts val="9180"/>
              </a:lnSpc>
              <a:buNone/>
            </a:pPr>
            <a:r>
              <a:rPr lang="en-US" sz="9000" spc="-22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9</a:t>
            </a:r>
            <a:pPr algn="ctr" indent="0" marL="0">
              <a:lnSpc>
                <a:spcPts val="9180"/>
              </a:lnSpc>
              <a:buNone/>
            </a:pPr>
            <a:r>
              <a:rPr lang="en-US" sz="9000" spc="-22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%</a:t>
            </a:r>
            <a:endParaRPr lang="en-US" sz="9000" dirty="0"/>
          </a:p>
        </p:txBody>
      </p:sp>
      <p:sp>
        <p:nvSpPr>
          <p:cNvPr id="15" name="gross retention"/>
          <p:cNvSpPr/>
          <p:nvPr/>
        </p:nvSpPr>
        <p:spPr>
          <a:xfrm>
            <a:off x="8162925" y="4724400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1913"/>
              </a:lnSpc>
              <a:buNone/>
            </a:pPr>
            <a:r>
              <a:rPr lang="en-US" sz="1875" spc="-75" kern="0" dirty="0">
                <a:solidFill>
                  <a:srgbClr val="F0F0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endParaRPr lang="en-US" sz="1875" dirty="0"/>
          </a:p>
        </p:txBody>
      </p:sp>
      <p:sp>
        <p:nvSpPr>
          <p:cNvPr id="16" name="We take an average 10 commission"/>
          <p:cNvSpPr/>
          <p:nvPr/>
        </p:nvSpPr>
        <p:spPr>
          <a:xfrm>
            <a:off x="381000" y="7658100"/>
            <a:ext cx="67437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g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F6F6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CCFFB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CCFFB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CCFFB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%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CCFFB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CCFFB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CCFFB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CCFFB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CCFFB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CCFFB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CCFFB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CCFFB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CCFFB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CCFFB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</a:t>
            </a:r>
            <a:pPr algn="l" indent="0" marL="0">
              <a:lnSpc>
                <a:spcPts val="4463"/>
              </a:lnSpc>
              <a:buNone/>
            </a:pPr>
            <a:r>
              <a:rPr lang="en-US" sz="5250" spc="-150" kern="0" dirty="0">
                <a:solidFill>
                  <a:srgbClr val="CCFFB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endParaRPr lang="en-US" sz="5250" dirty="0"/>
          </a:p>
        </p:txBody>
      </p:sp>
      <p:sp>
        <p:nvSpPr>
          <p:cNvPr id="17" name="Our business model is sustainable and long-term oriented The software is of high value for custoemers"/>
          <p:cNvSpPr/>
          <p:nvPr/>
        </p:nvSpPr>
        <p:spPr>
          <a:xfrm>
            <a:off x="7743825" y="7658100"/>
            <a:ext cx="7153275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b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b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-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.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v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3315"/>
              </a:lnSpc>
              <a:buNone/>
            </a:pPr>
            <a:r>
              <a:rPr lang="en-US" sz="3000" spc="-75" kern="0" dirty="0">
                <a:solidFill>
                  <a:srgbClr val="F6F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.</a:t>
            </a:r>
            <a:endParaRPr lang="en-US" sz="3000" dirty="0"/>
          </a:p>
        </p:txBody>
      </p:sp>
      <p:sp>
        <p:nvSpPr>
          <p:cNvPr id="18" name="name_02"/>
          <p:cNvSpPr/>
          <p:nvPr/>
        </p:nvSpPr>
        <p:spPr>
          <a:xfrm>
            <a:off x="17630775" y="9734551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0</a:t>
            </a:r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Wagglz"/>
          <p:cNvSpPr/>
          <p:nvPr/>
        </p:nvSpPr>
        <p:spPr>
          <a:xfrm>
            <a:off x="381000" y="9734551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Z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54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nna-roberts-KOY-7NfIWDE-unsplash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Rectangle 3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Rectangle 3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footer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81000" y="9534523"/>
            <a:ext cx="17526000" cy="447677"/>
          </a:xfrm>
          <a:prstGeom prst="rect">
            <a:avLst/>
          </a:prstGeom>
        </p:spPr>
      </p:pic>
      <p:sp>
        <p:nvSpPr>
          <p:cNvPr id="6" name="These new technologies have the potential to revolutionize the way people get around cities making transportation even more convenient and affordable"/>
          <p:cNvSpPr/>
          <p:nvPr/>
        </p:nvSpPr>
        <p:spPr>
          <a:xfrm>
            <a:off x="381000" y="371475"/>
            <a:ext cx="4686300" cy="306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y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
</a:t>
            </a:r>
            <a:endParaRPr lang="en-US" sz="2550" dirty="0"/>
          </a:p>
        </p:txBody>
      </p:sp>
      <p:sp>
        <p:nvSpPr>
          <p:cNvPr id="7" name="These new technologies have the potential to revolutionize the way people get around cities making transportation even more convenient and affordable"/>
          <p:cNvSpPr/>
          <p:nvPr/>
        </p:nvSpPr>
        <p:spPr>
          <a:xfrm>
            <a:off x="6915150" y="371475"/>
            <a:ext cx="4686300" cy="306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y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
</a:t>
            </a:r>
            <a:endParaRPr lang="en-US" sz="2550" dirty="0"/>
          </a:p>
        </p:txBody>
      </p:sp>
      <p:sp>
        <p:nvSpPr>
          <p:cNvPr id="8" name="These new technologies have the potential to revolutionize the way people get around cities making transportation even more convenient and affordable"/>
          <p:cNvSpPr/>
          <p:nvPr/>
        </p:nvSpPr>
        <p:spPr>
          <a:xfrm>
            <a:off x="13268325" y="371475"/>
            <a:ext cx="4686300" cy="306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y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</a:t>
            </a:r>
            <a:pPr algn="l" indent="0" marL="0">
              <a:lnSpc>
                <a:spcPts val="2933"/>
              </a:lnSpc>
              <a:buNone/>
            </a:pPr>
            <a:r>
              <a:rPr lang="en-US" sz="2550" dirty="0">
                <a:solidFill>
                  <a:srgbClr val="CCFFB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
</a:t>
            </a:r>
            <a:endParaRPr lang="en-US" sz="2550" dirty="0"/>
          </a:p>
        </p:txBody>
      </p:sp>
      <p:sp>
        <p:nvSpPr>
          <p:cNvPr id="9" name="Generative AI"/>
          <p:cNvSpPr/>
          <p:nvPr/>
        </p:nvSpPr>
        <p:spPr>
          <a:xfrm>
            <a:off x="152395" y="7530540"/>
            <a:ext cx="18164180" cy="1902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79"/>
              </a:lnSpc>
              <a:buNone/>
            </a:pPr>
            <a:r>
              <a:rPr lang="en-US" sz="21386" b="1" spc="-675" kern="0" dirty="0">
                <a:solidFill>
                  <a:srgbClr val="E6FFD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</a:t>
            </a:r>
            <a:pPr algn="l" indent="0" marL="0">
              <a:lnSpc>
                <a:spcPts val="7179"/>
              </a:lnSpc>
              <a:buNone/>
            </a:pPr>
            <a:r>
              <a:rPr lang="en-US" sz="21386" b="1" spc="-675" kern="0" dirty="0">
                <a:solidFill>
                  <a:srgbClr val="E6FFD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</a:t>
            </a:r>
            <a:pPr algn="l" indent="0" marL="0">
              <a:lnSpc>
                <a:spcPts val="7179"/>
              </a:lnSpc>
              <a:buNone/>
            </a:pPr>
            <a:r>
              <a:rPr lang="en-US" sz="21386" b="1" spc="-675" kern="0" dirty="0">
                <a:solidFill>
                  <a:srgbClr val="E6FFD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</a:t>
            </a:r>
            <a:pPr algn="l" indent="0" marL="0">
              <a:lnSpc>
                <a:spcPts val="7179"/>
              </a:lnSpc>
              <a:buNone/>
            </a:pPr>
            <a:r>
              <a:rPr lang="en-US" sz="21386" b="1" spc="-675" kern="0" dirty="0">
                <a:solidFill>
                  <a:srgbClr val="E6FFD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</a:t>
            </a:r>
            <a:pPr algn="l" indent="0" marL="0">
              <a:lnSpc>
                <a:spcPts val="7179"/>
              </a:lnSpc>
              <a:buNone/>
            </a:pPr>
            <a:r>
              <a:rPr lang="en-US" sz="21386" b="1" spc="-675" kern="0" dirty="0">
                <a:solidFill>
                  <a:srgbClr val="E6FFD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</a:t>
            </a:r>
            <a:pPr algn="l" indent="0" marL="0">
              <a:lnSpc>
                <a:spcPts val="7179"/>
              </a:lnSpc>
              <a:buNone/>
            </a:pPr>
            <a:r>
              <a:rPr lang="en-US" sz="21386" b="1" spc="-675" kern="0" dirty="0">
                <a:solidFill>
                  <a:srgbClr val="E6FFD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</a:t>
            </a:r>
            <a:pPr algn="l" indent="0" marL="0">
              <a:lnSpc>
                <a:spcPts val="7179"/>
              </a:lnSpc>
              <a:buNone/>
            </a:pPr>
            <a:r>
              <a:rPr lang="en-US" sz="21386" b="1" spc="-675" kern="0" dirty="0">
                <a:solidFill>
                  <a:srgbClr val="E6FFD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</a:t>
            </a:r>
            <a:pPr algn="l" indent="0" marL="0">
              <a:lnSpc>
                <a:spcPts val="7179"/>
              </a:lnSpc>
              <a:buNone/>
            </a:pPr>
            <a:r>
              <a:rPr lang="en-US" sz="21386" b="1" spc="-675" kern="0" dirty="0">
                <a:solidFill>
                  <a:srgbClr val="E6FFD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</a:t>
            </a:r>
            <a:pPr algn="l" indent="0" marL="0">
              <a:lnSpc>
                <a:spcPts val="7179"/>
              </a:lnSpc>
              <a:buNone/>
            </a:pPr>
            <a:r>
              <a:rPr lang="en-US" sz="21386" b="1" spc="-675" kern="0" dirty="0">
                <a:solidFill>
                  <a:srgbClr val="E6FFD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</a:t>
            </a:r>
            <a:pPr algn="l" indent="0" marL="0">
              <a:lnSpc>
                <a:spcPts val="7179"/>
              </a:lnSpc>
              <a:buNone/>
            </a:pPr>
            <a:r>
              <a:rPr lang="en-US" sz="21386" b="1" spc="-675" kern="0" dirty="0">
                <a:solidFill>
                  <a:srgbClr val="E6FFD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</a:t>
            </a:r>
            <a:pPr algn="l" indent="0" marL="0">
              <a:lnSpc>
                <a:spcPts val="7179"/>
              </a:lnSpc>
              <a:buNone/>
            </a:pPr>
            <a:r>
              <a:rPr lang="en-US" sz="21386" b="1" spc="-675" kern="0" dirty="0">
                <a:solidFill>
                  <a:srgbClr val="E6FFD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pPr algn="l" indent="0" marL="0">
              <a:lnSpc>
                <a:spcPts val="7179"/>
              </a:lnSpc>
              <a:buNone/>
            </a:pPr>
            <a:r>
              <a:rPr lang="en-US" sz="21386" b="1" spc="-675" kern="0" dirty="0">
                <a:solidFill>
                  <a:srgbClr val="E6FFD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</a:t>
            </a:r>
            <a:pPr algn="l" indent="0" marL="0">
              <a:lnSpc>
                <a:spcPts val="7179"/>
              </a:lnSpc>
              <a:buNone/>
            </a:pPr>
            <a:r>
              <a:rPr lang="en-US" sz="21386" b="1" spc="-675" kern="0" dirty="0">
                <a:solidFill>
                  <a:srgbClr val="E6FFD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</a:t>
            </a:r>
            <a:endParaRPr lang="en-US" sz="21386" dirty="0"/>
          </a:p>
        </p:txBody>
      </p:sp>
      <p:sp>
        <p:nvSpPr>
          <p:cNvPr id="10" name="name_02"/>
          <p:cNvSpPr/>
          <p:nvPr/>
        </p:nvSpPr>
        <p:spPr>
          <a:xfrm>
            <a:off x="17630775" y="9734549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0</a:t>
            </a:r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Wagglz"/>
          <p:cNvSpPr/>
          <p:nvPr/>
        </p:nvSpPr>
        <p:spPr>
          <a:xfrm>
            <a:off x="381000" y="9734549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Z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A6A6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A6A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oter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9534525"/>
            <a:ext cx="17526000" cy="447677"/>
          </a:xfrm>
          <a:prstGeom prst="rect">
            <a:avLst/>
          </a:prstGeom>
        </p:spPr>
      </p:pic>
      <p:pic>
        <p:nvPicPr>
          <p:cNvPr id="3" name="Logo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352425"/>
            <a:ext cx="971550" cy="688860"/>
          </a:xfrm>
          <a:prstGeom prst="rect">
            <a:avLst/>
          </a:prstGeom>
        </p:spPr>
      </p:pic>
      <p:sp>
        <p:nvSpPr>
          <p:cNvPr id="4" name="name_36"/>
          <p:cNvSpPr/>
          <p:nvPr/>
        </p:nvSpPr>
        <p:spPr>
          <a:xfrm>
            <a:off x="8124825" y="1133475"/>
            <a:ext cx="8201025" cy="2371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27"/>
              </a:lnSpc>
              <a:buNone/>
            </a:pPr>
            <a:r>
              <a:rPr lang="en-US" sz="17850" b="1" spc="-1125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pPr algn="l" indent="0" marL="0">
              <a:lnSpc>
                <a:spcPts val="17327"/>
              </a:lnSpc>
              <a:buNone/>
            </a:pPr>
            <a:r>
              <a:rPr lang="en-US" sz="17850" b="1" spc="-1125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6</a:t>
            </a:r>
            <a:pPr algn="l" indent="0" marL="0">
              <a:lnSpc>
                <a:spcPts val="17327"/>
              </a:lnSpc>
              <a:buNone/>
            </a:pPr>
            <a:r>
              <a:rPr lang="en-US" sz="17850" b="1" spc="-1125" kern="0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%</a:t>
            </a:r>
            <a:endParaRPr lang="en-US" sz="17850" dirty="0"/>
          </a:p>
        </p:txBody>
      </p:sp>
      <p:sp>
        <p:nvSpPr>
          <p:cNvPr id="5" name="name_56"/>
          <p:cNvSpPr/>
          <p:nvPr/>
        </p:nvSpPr>
        <p:spPr>
          <a:xfrm>
            <a:off x="8124825" y="6153150"/>
            <a:ext cx="8201025" cy="2371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27"/>
              </a:lnSpc>
              <a:buNone/>
            </a:pPr>
            <a:r>
              <a:rPr lang="en-US" sz="17850" b="1" spc="-1125" kern="0" dirty="0">
                <a:solidFill>
                  <a:srgbClr val="CCFFB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5</a:t>
            </a:r>
            <a:pPr algn="l" indent="0" marL="0">
              <a:lnSpc>
                <a:spcPts val="17327"/>
              </a:lnSpc>
              <a:buNone/>
            </a:pPr>
            <a:r>
              <a:rPr lang="en-US" sz="17850" b="1" spc="-1125" kern="0" dirty="0">
                <a:solidFill>
                  <a:srgbClr val="CCFFB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6</a:t>
            </a:r>
            <a:pPr algn="l" indent="0" marL="0">
              <a:lnSpc>
                <a:spcPts val="17327"/>
              </a:lnSpc>
              <a:buNone/>
            </a:pPr>
            <a:r>
              <a:rPr lang="en-US" sz="17850" b="1" spc="-1125" kern="0" dirty="0">
                <a:solidFill>
                  <a:srgbClr val="CCFFB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%</a:t>
            </a:r>
            <a:endParaRPr lang="en-US" sz="17850" dirty="0"/>
          </a:p>
        </p:txBody>
      </p:sp>
      <p:sp>
        <p:nvSpPr>
          <p:cNvPr id="6" name="Value"/>
          <p:cNvSpPr/>
          <p:nvPr/>
        </p:nvSpPr>
        <p:spPr>
          <a:xfrm>
            <a:off x="13487400" y="6534150"/>
            <a:ext cx="357187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x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,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y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b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1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+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x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v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endParaRPr lang="en-US" sz="2250" dirty="0"/>
          </a:p>
        </p:txBody>
      </p:sp>
      <p:sp>
        <p:nvSpPr>
          <p:cNvPr id="7" name="Value"/>
          <p:cNvSpPr/>
          <p:nvPr/>
        </p:nvSpPr>
        <p:spPr>
          <a:xfrm>
            <a:off x="13487400" y="1571625"/>
            <a:ext cx="357187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x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,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y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b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1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+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x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v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2295"/>
              </a:lnSpc>
              <a:buNone/>
            </a:pPr>
            <a:r>
              <a:rPr lang="en-US" sz="225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endParaRPr lang="en-US" sz="2250" dirty="0"/>
          </a:p>
        </p:txBody>
      </p:sp>
      <p:sp>
        <p:nvSpPr>
          <p:cNvPr id="8" name="Insights"/>
          <p:cNvSpPr/>
          <p:nvPr/>
        </p:nvSpPr>
        <p:spPr>
          <a:xfrm>
            <a:off x="2305050" y="1847850"/>
            <a:ext cx="541020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76"/>
              </a:lnSpc>
              <a:buNone/>
            </a:pPr>
            <a:r>
              <a:rPr lang="en-US" sz="8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</a:t>
            </a:r>
            <a:pPr algn="l" indent="0" marL="0">
              <a:lnSpc>
                <a:spcPts val="7076"/>
              </a:lnSpc>
              <a:buNone/>
            </a:pPr>
            <a:r>
              <a:rPr lang="en-US" sz="8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</a:t>
            </a:r>
            <a:pPr algn="l" indent="0" marL="0">
              <a:lnSpc>
                <a:spcPts val="7076"/>
              </a:lnSpc>
              <a:buNone/>
            </a:pPr>
            <a:r>
              <a:rPr lang="en-US" sz="8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</a:t>
            </a:r>
            <a:pPr algn="l" indent="0" marL="0">
              <a:lnSpc>
                <a:spcPts val="7076"/>
              </a:lnSpc>
              <a:buNone/>
            </a:pPr>
            <a:r>
              <a:rPr lang="en-US" sz="8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</a:t>
            </a:r>
            <a:pPr algn="l" indent="0" marL="0">
              <a:lnSpc>
                <a:spcPts val="7076"/>
              </a:lnSpc>
              <a:buNone/>
            </a:pPr>
            <a:r>
              <a:rPr lang="en-US" sz="8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</a:t>
            </a:r>
            <a:pPr algn="l" indent="0" marL="0">
              <a:lnSpc>
                <a:spcPts val="7076"/>
              </a:lnSpc>
              <a:buNone/>
            </a:pPr>
            <a:r>
              <a:rPr lang="en-US" sz="8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</a:t>
            </a:r>
            <a:pPr algn="l" indent="0" marL="0">
              <a:lnSpc>
                <a:spcPts val="7076"/>
              </a:lnSpc>
              <a:buNone/>
            </a:pPr>
            <a:r>
              <a:rPr lang="en-US" sz="8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</a:t>
            </a:r>
            <a:pPr algn="l" indent="0" marL="0">
              <a:lnSpc>
                <a:spcPts val="7076"/>
              </a:lnSpc>
              <a:buNone/>
            </a:pPr>
            <a:r>
              <a:rPr lang="en-US" sz="8550" b="1" dirty="0">
                <a:solidFill>
                  <a:srgbClr val="2E54C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</a:t>
            </a:r>
            <a:endParaRPr lang="en-US" sz="8550" dirty="0"/>
          </a:p>
        </p:txBody>
      </p:sp>
      <p:sp>
        <p:nvSpPr>
          <p:cNvPr id="9" name="name_02"/>
          <p:cNvSpPr/>
          <p:nvPr/>
        </p:nvSpPr>
        <p:spPr>
          <a:xfrm>
            <a:off x="17630775" y="9734551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0</a:t>
            </a:r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Wagglz"/>
          <p:cNvSpPr/>
          <p:nvPr/>
        </p:nvSpPr>
        <p:spPr>
          <a:xfrm>
            <a:off x="381000" y="9734551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Z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F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oup 1000010893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5334000"/>
            <a:ext cx="5233793" cy="786782"/>
          </a:xfrm>
          <a:prstGeom prst="rect">
            <a:avLst/>
          </a:prstGeom>
        </p:spPr>
      </p:pic>
      <p:pic>
        <p:nvPicPr>
          <p:cNvPr id="3" name="Group 1000010894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24625" y="5334000"/>
            <a:ext cx="5233793" cy="786782"/>
          </a:xfrm>
          <a:prstGeom prst="rect">
            <a:avLst/>
          </a:prstGeom>
        </p:spPr>
      </p:pic>
      <p:pic>
        <p:nvPicPr>
          <p:cNvPr id="4" name="Group 1000010895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668250" y="5334000"/>
            <a:ext cx="5233793" cy="786782"/>
          </a:xfrm>
          <a:prstGeom prst="rect">
            <a:avLst/>
          </a:prstGeom>
        </p:spPr>
      </p:pic>
      <p:pic>
        <p:nvPicPr>
          <p:cNvPr id="5" name="footer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81000" y="9534523"/>
            <a:ext cx="17526000" cy="447677"/>
          </a:xfrm>
          <a:prstGeom prst="rect">
            <a:avLst/>
          </a:prstGeom>
        </p:spPr>
      </p:pic>
      <p:pic>
        <p:nvPicPr>
          <p:cNvPr id="6" name="Logo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81000" y="352425"/>
            <a:ext cx="971550" cy="688860"/>
          </a:xfrm>
          <a:prstGeom prst="rect">
            <a:avLst/>
          </a:prstGeom>
        </p:spPr>
      </p:pic>
      <p:sp>
        <p:nvSpPr>
          <p:cNvPr id="7" name="name_1 out of 5 cars on Norways roads are electric"/>
          <p:cNvSpPr/>
          <p:nvPr/>
        </p:nvSpPr>
        <p:spPr>
          <a:xfrm>
            <a:off x="381000" y="1752600"/>
            <a:ext cx="10658475" cy="2600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2E54C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1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2E54C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 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2E54C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o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2E54C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u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2E54C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2E54C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 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2E54C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o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2E54C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f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2E54C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 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2E54C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5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2E54C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 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2E54C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
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c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a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r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 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o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n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 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N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o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r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a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y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'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 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r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o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a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d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 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a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r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e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 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e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l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e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c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r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i</a:t>
            </a:r>
            <a:pPr algn="l" indent="0" marL="0">
              <a:lnSpc>
                <a:spcPts val="5801"/>
              </a:lnSpc>
              <a:buNone/>
            </a:pPr>
            <a:r>
              <a:rPr lang="en-US" sz="7350" dirty="0">
                <a:solidFill>
                  <a:srgbClr val="A6A6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c</a:t>
            </a:r>
            <a:endParaRPr lang="en-US" sz="7350" dirty="0"/>
          </a:p>
        </p:txBody>
      </p:sp>
      <p:sp>
        <p:nvSpPr>
          <p:cNvPr id="8" name="These new technologies have the potential to revolutionize the way people get around cities making transportation even more convenient and affordable"/>
          <p:cNvSpPr/>
          <p:nvPr/>
        </p:nvSpPr>
        <p:spPr>
          <a:xfrm>
            <a:off x="381000" y="6515100"/>
            <a:ext cx="5229225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z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y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,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b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.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
</a:t>
            </a:r>
            <a:endParaRPr lang="en-US" sz="2400" dirty="0"/>
          </a:p>
        </p:txBody>
      </p:sp>
      <p:sp>
        <p:nvSpPr>
          <p:cNvPr id="9" name="These new technologies have the potential to revolutionize the way people get around cities making transportation even more convenient and affordable"/>
          <p:cNvSpPr/>
          <p:nvPr/>
        </p:nvSpPr>
        <p:spPr>
          <a:xfrm>
            <a:off x="6524625" y="6515100"/>
            <a:ext cx="5229225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z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y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,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b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.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
</a:t>
            </a:r>
            <a:endParaRPr lang="en-US" sz="2400" dirty="0"/>
          </a:p>
        </p:txBody>
      </p:sp>
      <p:sp>
        <p:nvSpPr>
          <p:cNvPr id="10" name="These new technologies have the potential to revolutionize the way people get around cities making transportation even more convenient and affordable"/>
          <p:cNvSpPr/>
          <p:nvPr/>
        </p:nvSpPr>
        <p:spPr>
          <a:xfrm>
            <a:off x="12668250" y="6515100"/>
            <a:ext cx="5229225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z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y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,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v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n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b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.</a:t>
            </a:r>
            <a:pPr algn="l" indent="0" marL="0">
              <a:lnSpc>
                <a:spcPts val="2933"/>
              </a:lnSpc>
              <a:buNone/>
            </a:pPr>
            <a:r>
              <a:rPr lang="en-US" sz="24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
</a:t>
            </a:r>
            <a:endParaRPr lang="en-US" sz="2400" dirty="0"/>
          </a:p>
        </p:txBody>
      </p:sp>
      <p:sp>
        <p:nvSpPr>
          <p:cNvPr id="11" name="Market Insight"/>
          <p:cNvSpPr/>
          <p:nvPr/>
        </p:nvSpPr>
        <p:spPr>
          <a:xfrm>
            <a:off x="381000" y="5334000"/>
            <a:ext cx="528141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g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</a:t>
            </a:r>
            <a:endParaRPr lang="en-US" sz="3000" dirty="0"/>
          </a:p>
        </p:txBody>
      </p:sp>
      <p:sp>
        <p:nvSpPr>
          <p:cNvPr id="12" name="Market Insight"/>
          <p:cNvSpPr/>
          <p:nvPr/>
        </p:nvSpPr>
        <p:spPr>
          <a:xfrm>
            <a:off x="6524625" y="5334000"/>
            <a:ext cx="528141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g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</a:t>
            </a:r>
            <a:endParaRPr lang="en-US" sz="3000" dirty="0"/>
          </a:p>
        </p:txBody>
      </p:sp>
      <p:sp>
        <p:nvSpPr>
          <p:cNvPr id="13" name="Market Insight"/>
          <p:cNvSpPr/>
          <p:nvPr/>
        </p:nvSpPr>
        <p:spPr>
          <a:xfrm>
            <a:off x="12668250" y="5334000"/>
            <a:ext cx="528141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g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</a:t>
            </a:r>
            <a:pPr algn="l" indent="0" marL="0">
              <a:lnSpc>
                <a:spcPts val="3825"/>
              </a:lnSpc>
              <a:buNone/>
            </a:pPr>
            <a:r>
              <a:rPr lang="en-US" sz="3000" dirty="0">
                <a:solidFill>
                  <a:srgbClr val="2E54C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</a:t>
            </a:r>
            <a:endParaRPr lang="en-US" sz="3000" dirty="0"/>
          </a:p>
        </p:txBody>
      </p:sp>
      <p:sp>
        <p:nvSpPr>
          <p:cNvPr id="14" name="name_02"/>
          <p:cNvSpPr/>
          <p:nvPr/>
        </p:nvSpPr>
        <p:spPr>
          <a:xfrm>
            <a:off x="17630775" y="9734550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0</a:t>
            </a:r>
            <a:pPr algn="r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Causten-Medium Regular" pitchFamily="34" charset="0"/>
                <a:ea typeface="Causten-Medium Regular" pitchFamily="34" charset="-122"/>
                <a:cs typeface="Causten-Medium Regular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Wagglz"/>
          <p:cNvSpPr/>
          <p:nvPr/>
        </p:nvSpPr>
        <p:spPr>
          <a:xfrm>
            <a:off x="381000" y="9734550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G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Z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T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H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 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D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</a:t>
            </a:r>
            <a:pPr algn="l" indent="0" marL="0">
              <a:lnSpc>
                <a:spcPts val="1530"/>
              </a:lnSpc>
              <a:buNone/>
            </a:pPr>
            <a:r>
              <a:rPr lang="en-US" sz="1500" spc="-75" kern="0" dirty="0">
                <a:solidFill>
                  <a:srgbClr val="2E54CE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2024-07-02T11:02:41Z</dcterms:created>
  <dcterms:modified xsi:type="dcterms:W3CDTF">2024-07-02T11:02:41Z</dcterms:modified>
</cp:coreProperties>
</file>