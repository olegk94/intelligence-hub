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10287000" cx="18288000"/>
  <p:notesSz cx="10287000" cy="18288000"/>
  <p:embeddedFontLst>
    <p:embeddedFont>
      <p:font typeface="Poppins"/>
      <p:regular r:id="rId20"/>
      <p:bold r:id="rId21"/>
      <p:italic r:id="rId22"/>
      <p:boldItalic r:id="rId23"/>
    </p:embeddedFont>
    <p:embeddedFont>
      <p:font typeface="Poppins Light"/>
      <p:regular r:id="rId24"/>
      <p:bold r:id="rId25"/>
      <p:italic r:id="rId26"/>
      <p:boldItalic r:id="rId27"/>
    </p:embeddedFont>
    <p:embeddedFont>
      <p:font typeface="Poppins Medium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Poppins ExtraBold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Light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Light-italic.fntdata"/><Relationship Id="rId25" Type="http://schemas.openxmlformats.org/officeDocument/2006/relationships/font" Target="fonts/PoppinsLight-bold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Poppins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11" Type="http://schemas.openxmlformats.org/officeDocument/2006/relationships/slide" Target="slides/slide7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6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9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8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11.xml"/><Relationship Id="rId37" Type="http://schemas.openxmlformats.org/officeDocument/2006/relationships/font" Target="fonts/PoppinsExtraBold-boldItalic.fntdata"/><Relationship Id="rId14" Type="http://schemas.openxmlformats.org/officeDocument/2006/relationships/slide" Target="slides/slide10.xml"/><Relationship Id="rId36" Type="http://schemas.openxmlformats.org/officeDocument/2006/relationships/font" Target="fonts/PoppinsExtraBold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52.png"/><Relationship Id="rId6" Type="http://schemas.openxmlformats.org/officeDocument/2006/relationships/image" Target="../media/image1.png"/><Relationship Id="rId7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26.png"/><Relationship Id="rId5" Type="http://schemas.openxmlformats.org/officeDocument/2006/relationships/image" Target="../media/image43.png"/><Relationship Id="rId6" Type="http://schemas.openxmlformats.org/officeDocument/2006/relationships/image" Target="../media/image23.png"/><Relationship Id="rId7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27.png"/><Relationship Id="rId10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37.png"/><Relationship Id="rId6" Type="http://schemas.openxmlformats.org/officeDocument/2006/relationships/image" Target="../media/image50.png"/><Relationship Id="rId7" Type="http://schemas.openxmlformats.org/officeDocument/2006/relationships/image" Target="../media/image39.png"/><Relationship Id="rId8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55.png"/><Relationship Id="rId5" Type="http://schemas.openxmlformats.org/officeDocument/2006/relationships/image" Target="../media/image51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4C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42965"/>
            <a:ext cx="18287992" cy="439973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8686800" y="9753600"/>
            <a:ext cx="904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718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2625"/>
              <a:buFont typeface="Poppins SemiBold"/>
              <a:buNone/>
            </a:pPr>
            <a:r>
              <a:rPr b="0" i="0" lang="en-US" sz="2625" u="none" cap="none" strike="noStrike">
                <a:solidFill>
                  <a:srgbClr val="A6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2024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4C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8300" y="3973450"/>
            <a:ext cx="3300404" cy="2340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8686800" y="9753600"/>
            <a:ext cx="904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718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2625"/>
              <a:buFont typeface="Poppins SemiBold"/>
              <a:buNone/>
            </a:pPr>
            <a:r>
              <a:rPr b="0" i="0" lang="en-US" sz="2625" u="none" cap="none" strike="noStrike">
                <a:solidFill>
                  <a:srgbClr val="A6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2024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92975" y="3790950"/>
            <a:ext cx="93513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3C3FF"/>
              </a:buClr>
              <a:buSzPts val="21300"/>
              <a:buFont typeface="Poppins SemiBold"/>
              <a:buNone/>
            </a:pPr>
            <a:r>
              <a:rPr b="0" i="0" lang="en-US" sz="21300" u="none" cap="none" strike="noStrike">
                <a:solidFill>
                  <a:srgbClr val="C3C3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</a:t>
            </a:r>
            <a:r>
              <a:rPr lang="en-US" sz="21300">
                <a:solidFill>
                  <a:srgbClr val="C3C3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</a:t>
            </a:r>
            <a:r>
              <a:rPr b="0" i="0" lang="en-US" sz="21300" u="none" cap="none" strike="noStrike">
                <a:solidFill>
                  <a:srgbClr val="C3C3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nk</a:t>
            </a:r>
            <a:endParaRPr b="0" i="0" sz="2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2686600" y="3608450"/>
            <a:ext cx="61695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3C3FF"/>
              </a:buClr>
              <a:buSzPts val="21300"/>
              <a:buFont typeface="Poppins SemiBold"/>
              <a:buNone/>
            </a:pPr>
            <a:r>
              <a:rPr b="0" i="0" lang="en-US" sz="21300" u="none" cap="none" strike="noStrike">
                <a:solidFill>
                  <a:srgbClr val="C3C3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</a:t>
            </a:r>
            <a:endParaRPr b="0" i="0" sz="2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4CE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381000" y="1943100"/>
            <a:ext cx="6296025" cy="520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4500"/>
              <a:buFont typeface="Poppins SemiBold"/>
              <a:buNone/>
            </a:pPr>
            <a:r>
              <a:rPr b="0" i="0" lang="en-US" sz="4500" u="none" cap="none" strike="noStrike">
                <a:solidFill>
                  <a:srgbClr val="F6F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Leading technology company specializing in innovative solutions for managing digital assets in today's interconnected world.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7734300" y="4333875"/>
            <a:ext cx="10106025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3375"/>
              <a:buFont typeface="Poppins Light"/>
              <a:buNone/>
            </a:pPr>
            <a:r>
              <a:rPr b="0" i="0" lang="en-US" sz="3375" u="none" cap="none" strike="noStrike">
                <a:solidFill>
                  <a:srgbClr val="F6F6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mission is to empower individuals and businesses to protect their digital assets, streamline workflows, and unlock new opportunities in the digital age. Backed by a team of experienced professionals and fueled by a passion for technological advancement, revolutionizing the way digital assets are managed and protected.</a:t>
            </a:r>
            <a:endParaRPr b="0" i="0" sz="3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7630775" y="9734550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81000" y="9734550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A6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995" y="3581400"/>
            <a:ext cx="2207461" cy="156516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381000" y="6057900"/>
            <a:ext cx="1731645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2000"/>
              <a:buFont typeface="Poppins SemiBold"/>
              <a:buNone/>
            </a:pPr>
            <a:r>
              <a:rPr b="0" i="0" lang="en-US" sz="12000" u="none" cap="none" strike="noStrike">
                <a:solidFill>
                  <a:srgbClr val="2E54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Innovative</a:t>
            </a:r>
            <a:r>
              <a:rPr b="0" i="0" lang="en-US" sz="12000" u="none" cap="none" strike="noStrike">
                <a:solidFill>
                  <a:srgbClr val="F6F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Solutions</a:t>
            </a:r>
            <a:br>
              <a:rPr b="0" i="0" lang="en-US" sz="12000" u="none" cap="none" strike="noStrike">
                <a:solidFill>
                  <a:srgbClr val="F6F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b="0" i="0" lang="en-US" sz="12000" u="none" cap="none" strike="noStrike">
                <a:solidFill>
                  <a:srgbClr val="F6F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 a Connected World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7630775" y="9734550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81000" y="9734550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4C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19100"/>
            <a:ext cx="17526000" cy="871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3725" y="1152525"/>
            <a:ext cx="6762750" cy="758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1295400" y="7791450"/>
            <a:ext cx="73914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509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550"/>
              <a:buFont typeface="Poppins"/>
              <a:buNone/>
            </a:pPr>
            <a:r>
              <a:rPr b="1" i="0" lang="en-US" sz="25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5. Something yet yet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295400" y="7191375"/>
            <a:ext cx="73914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509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550"/>
              <a:buFont typeface="Poppins"/>
              <a:buNone/>
            </a:pPr>
            <a:r>
              <a:rPr b="1" i="0" lang="en-US" sz="25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4. Something yet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1295400" y="6591300"/>
            <a:ext cx="73914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509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550"/>
              <a:buFont typeface="Poppins"/>
              <a:buNone/>
            </a:pPr>
            <a:r>
              <a:rPr b="1" i="0" lang="en-US" sz="25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3. Idea validation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1295400" y="5991225"/>
            <a:ext cx="73914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509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550"/>
              <a:buFont typeface="Poppins"/>
              <a:buNone/>
            </a:pPr>
            <a:r>
              <a:rPr b="1" i="0" lang="en-US" sz="25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 2. MVP Planing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1295400" y="5391150"/>
            <a:ext cx="73914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509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550"/>
              <a:buFont typeface="Poppins"/>
              <a:buNone/>
            </a:pPr>
            <a:r>
              <a:rPr b="1" i="0" lang="en-US" sz="25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 1. Market &amp; competitors research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295400" y="2676525"/>
            <a:ext cx="738187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850"/>
              <a:buFont typeface="Poppins"/>
              <a:buNone/>
            </a:pPr>
            <a:r>
              <a:rPr b="0" i="0" lang="en-US" sz="28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A strong brand strategy is meticulously crafted, taking into account all aspects of your market, niche, product or service offerings, customers, and competitors.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1295400" y="1152525"/>
            <a:ext cx="738187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3406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8250"/>
              <a:buFont typeface="Poppins ExtraBold"/>
              <a:buNone/>
            </a:pPr>
            <a:r>
              <a:rPr b="0" i="0" lang="en-US" sz="8250" u="none" cap="none" strike="noStrike">
                <a:solidFill>
                  <a:srgbClr val="2E54CE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Strategy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17630775" y="9734550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381000" y="9734550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A6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500" y="1238250"/>
            <a:ext cx="8572500" cy="749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381000" y="3533775"/>
            <a:ext cx="7810500" cy="520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4500"/>
              <a:buFont typeface="Poppins"/>
              <a:buNone/>
            </a:pPr>
            <a:r>
              <a:rPr b="0" i="0" lang="en-US" sz="4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Supported by a group of seasoned experts and driven by a fervor for progress in the tech field, we're reshaping the management and security of digital assets.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17630775" y="9734549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381000" y="973454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FFB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75269" y="3635489"/>
            <a:ext cx="4249406" cy="301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/>
          <p:nvPr/>
        </p:nvSpPr>
        <p:spPr>
          <a:xfrm>
            <a:off x="381000" y="6124575"/>
            <a:ext cx="8048625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4500"/>
              <a:buFont typeface="Poppins"/>
              <a:buNone/>
            </a:pPr>
            <a:r>
              <a:rPr b="0" i="0" lang="en-US" sz="4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The increasing complexity and security risks associated with managing digital assets in an interconnected world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17630775" y="9734549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381000" y="973454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4C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590550"/>
            <a:ext cx="5591175" cy="835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590550"/>
            <a:ext cx="5591175" cy="835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15825" y="590550"/>
            <a:ext cx="5591175" cy="835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/>
          <p:nvPr/>
        </p:nvSpPr>
        <p:spPr>
          <a:xfrm>
            <a:off x="857250" y="971550"/>
            <a:ext cx="306705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4250"/>
              <a:buFont typeface="Poppins"/>
              <a:buNone/>
            </a:pPr>
            <a:r>
              <a:rPr b="0" i="0" lang="en-US" sz="142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32k</a:t>
            </a:r>
            <a:endParaRPr b="0" i="0" sz="14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857250" y="2857500"/>
            <a:ext cx="2152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4500"/>
              <a:buFont typeface="Poppins"/>
              <a:buNone/>
            </a:pPr>
            <a:r>
              <a:rPr b="0" i="0" lang="en-US" sz="4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asdads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6819900" y="971550"/>
            <a:ext cx="29718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4250"/>
              <a:buFont typeface="Poppins"/>
              <a:buNone/>
            </a:pPr>
            <a:r>
              <a:rPr b="0" i="0" lang="en-US" sz="142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17%</a:t>
            </a:r>
            <a:endParaRPr b="0" i="0" sz="14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6819900" y="2857500"/>
            <a:ext cx="2152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4500"/>
              <a:buFont typeface="Poppins"/>
              <a:buNone/>
            </a:pPr>
            <a:r>
              <a:rPr b="0" i="0" lang="en-US" sz="4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asdads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12792075" y="971550"/>
            <a:ext cx="443865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4250"/>
              <a:buFont typeface="Poppins"/>
              <a:buNone/>
            </a:pPr>
            <a:r>
              <a:rPr b="0" i="0" lang="en-US" sz="142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$30K</a:t>
            </a:r>
            <a:endParaRPr b="0" i="0" sz="14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12792075" y="2857500"/>
            <a:ext cx="2152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4500"/>
              <a:buFont typeface="Poppins"/>
              <a:buNone/>
            </a:pPr>
            <a:r>
              <a:rPr b="0" i="0" lang="en-US" sz="4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asdads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17630775" y="9734549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381000" y="973454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4C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15825" y="1724025"/>
            <a:ext cx="5591175" cy="718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3038475"/>
            <a:ext cx="5591175" cy="586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4581525"/>
            <a:ext cx="5591175" cy="432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/>
          <p:nvPr/>
        </p:nvSpPr>
        <p:spPr>
          <a:xfrm>
            <a:off x="12792075" y="3343275"/>
            <a:ext cx="277177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9000"/>
              <a:buFont typeface="Poppins"/>
              <a:buNone/>
            </a:pPr>
            <a:r>
              <a:rPr b="1" i="0" lang="en-US" sz="90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2,3M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12792075" y="4810125"/>
            <a:ext cx="41338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250"/>
              <a:buFont typeface="Poppins Medium"/>
              <a:buNone/>
            </a:pPr>
            <a:r>
              <a:rPr b="0" i="0" lang="en-US" sz="2250" u="none" cap="none" strike="noStrike">
                <a:solidFill>
                  <a:srgbClr val="2E54C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Investment in Series B funding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6819900" y="4657725"/>
            <a:ext cx="152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9000"/>
              <a:buFont typeface="Poppins"/>
              <a:buNone/>
            </a:pPr>
            <a:r>
              <a:rPr b="1" i="0" lang="en-US" sz="90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1M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6819900" y="6124575"/>
            <a:ext cx="41338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250"/>
              <a:buFont typeface="Poppins Medium"/>
              <a:buNone/>
            </a:pPr>
            <a:r>
              <a:rPr b="0" i="0" lang="en-US" sz="2250" u="none" cap="none" strike="noStrike">
                <a:solidFill>
                  <a:srgbClr val="2E54C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Investment in Series A funding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857250" y="6200775"/>
            <a:ext cx="300037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9000"/>
              <a:buFont typeface="Poppins"/>
              <a:buNone/>
            </a:pPr>
            <a:r>
              <a:rPr b="1" i="0" lang="en-US" sz="90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500k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857250" y="7667625"/>
            <a:ext cx="46291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250"/>
              <a:buFont typeface="Poppins Medium"/>
              <a:buNone/>
            </a:pPr>
            <a:r>
              <a:rPr b="0" i="0" lang="en-US" sz="2250" u="none" cap="none" strike="noStrike">
                <a:solidFill>
                  <a:srgbClr val="2E54C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Seed funding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381000" y="1876425"/>
            <a:ext cx="51625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3000"/>
              <a:buFont typeface="Poppins Medium"/>
              <a:buNone/>
            </a:pPr>
            <a:r>
              <a:rPr b="0" i="0" lang="en-US" sz="3000" u="none" cap="none" strike="noStrike">
                <a:solidFill>
                  <a:srgbClr val="F6F6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Investors trusting us from the beginning of our endeavour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A6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1350" y="1009650"/>
            <a:ext cx="6972300" cy="697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5950" y="1114425"/>
            <a:ext cx="4752975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1950" y="5953125"/>
            <a:ext cx="332422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2"/>
          <p:cNvSpPr/>
          <p:nvPr/>
        </p:nvSpPr>
        <p:spPr>
          <a:xfrm>
            <a:off x="12906375" y="3400425"/>
            <a:ext cx="27622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CFFB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CCFFB0"/>
                </a:solidFill>
                <a:latin typeface="Arial"/>
                <a:ea typeface="Arial"/>
                <a:cs typeface="Arial"/>
                <a:sym typeface="Arial"/>
              </a:rPr>
              <a:t>3.2B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12720638" y="5181600"/>
            <a:ext cx="3228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CCFFB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CCFFB0"/>
                </a:solidFill>
                <a:latin typeface="Arial"/>
                <a:ea typeface="Arial"/>
                <a:cs typeface="Arial"/>
                <a:sym typeface="Arial"/>
              </a:rPr>
              <a:t>Market opportunity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7191375" y="2657475"/>
            <a:ext cx="1857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6734175" y="3714750"/>
            <a:ext cx="2857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expected growth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381000" y="5953125"/>
            <a:ext cx="563880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12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4125"/>
              <a:buFont typeface="Poppins"/>
              <a:buNone/>
            </a:pPr>
            <a:r>
              <a:rPr b="0" i="0" lang="en-US" sz="4125" u="none" cap="none" strike="noStrike">
                <a:solidFill>
                  <a:srgbClr val="F6F6FF"/>
                </a:solidFill>
                <a:latin typeface="Poppins"/>
                <a:ea typeface="Poppins"/>
                <a:cs typeface="Poppins"/>
                <a:sym typeface="Poppins"/>
              </a:rPr>
              <a:t>We have successfully onboarded </a:t>
            </a:r>
            <a:r>
              <a:rPr b="0" i="0" lang="en-US" sz="4125" u="none" cap="none" strike="noStrike">
                <a:solidFill>
                  <a:srgbClr val="CCFFB0"/>
                </a:solidFill>
                <a:latin typeface="Poppins"/>
                <a:ea typeface="Poppins"/>
                <a:cs typeface="Poppins"/>
                <a:sym typeface="Poppins"/>
              </a:rPr>
              <a:t>500 beta users</a:t>
            </a:r>
            <a:r>
              <a:rPr b="0" i="0" lang="en-US" sz="4125" u="none" cap="none" strike="noStrike">
                <a:solidFill>
                  <a:srgbClr val="F6F6FF"/>
                </a:solidFill>
                <a:latin typeface="Poppins"/>
                <a:ea typeface="Poppins"/>
                <a:cs typeface="Poppins"/>
                <a:sym typeface="Poppins"/>
              </a:rPr>
              <a:t> and achieved a month-over-month growth rate of 20%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8886825" y="6896100"/>
            <a:ext cx="1619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rgbClr val="F6F6FF"/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8848725" y="7962900"/>
            <a:ext cx="19240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88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2250"/>
              <a:buFont typeface="Poppins"/>
              <a:buNone/>
            </a:pPr>
            <a:r>
              <a:rPr b="0" i="0" lang="en-US" sz="2250" u="none" cap="none" strike="noStrike">
                <a:solidFill>
                  <a:srgbClr val="F6F6FF"/>
                </a:solidFill>
                <a:latin typeface="Poppins"/>
                <a:ea typeface="Poppins"/>
                <a:cs typeface="Poppins"/>
                <a:sym typeface="Poppins"/>
              </a:rPr>
              <a:t>Market share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0" y="5524500"/>
            <a:ext cx="4572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5524500"/>
            <a:ext cx="4572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5524500"/>
            <a:ext cx="4572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524500"/>
            <a:ext cx="4572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8288000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/>
          <p:nvPr/>
        </p:nvSpPr>
        <p:spPr>
          <a:xfrm>
            <a:off x="14097000" y="8772525"/>
            <a:ext cx="3381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13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3000"/>
              <a:buFont typeface="Poppins Light"/>
              <a:buNone/>
            </a:pPr>
            <a:r>
              <a:rPr b="0" i="0" lang="en-US" sz="3000" u="none" cap="none" strike="noStrike">
                <a:solidFill>
                  <a:srgbClr val="2E54CE"/>
                </a:solidFill>
                <a:latin typeface="Poppins Light"/>
                <a:ea typeface="Poppins Light"/>
                <a:cs typeface="Poppins Light"/>
                <a:sym typeface="Poppins Light"/>
              </a:rPr>
              <a:t>average rating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14097000" y="7724775"/>
            <a:ext cx="33813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5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7500"/>
              <a:buFont typeface="Poppins SemiBold"/>
              <a:buNone/>
            </a:pPr>
            <a:r>
              <a:rPr b="0" i="0" lang="en-US" sz="7500" u="none" cap="none" strike="noStrike">
                <a:solidFill>
                  <a:srgbClr val="2E54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4.9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9525000" y="8772525"/>
            <a:ext cx="3381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13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3000"/>
              <a:buFont typeface="Poppins Light"/>
              <a:buNone/>
            </a:pPr>
            <a:r>
              <a:rPr b="0" i="0" lang="en-US" sz="3000" u="none" cap="none" strike="noStrike">
                <a:solidFill>
                  <a:srgbClr val="2E54CE"/>
                </a:solidFill>
                <a:latin typeface="Poppins Light"/>
                <a:ea typeface="Poppins Light"/>
                <a:cs typeface="Poppins Light"/>
                <a:sym typeface="Poppins Light"/>
              </a:rPr>
              <a:t>new customers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9525000" y="7724775"/>
            <a:ext cx="33813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5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7500"/>
              <a:buFont typeface="Poppins SemiBold"/>
              <a:buNone/>
            </a:pPr>
            <a:r>
              <a:rPr b="0" i="0" lang="en-US" sz="7500" u="none" cap="none" strike="noStrike">
                <a:solidFill>
                  <a:srgbClr val="2E54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90K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4953000" y="8772525"/>
            <a:ext cx="3381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13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3000"/>
              <a:buFont typeface="Poppins Light"/>
              <a:buNone/>
            </a:pPr>
            <a:r>
              <a:rPr b="0" i="0" lang="en-US" sz="3000" u="none" cap="none" strike="noStrike">
                <a:solidFill>
                  <a:srgbClr val="2E54CE"/>
                </a:solidFill>
                <a:latin typeface="Poppins Light"/>
                <a:ea typeface="Poppins Light"/>
                <a:cs typeface="Poppins Light"/>
                <a:sym typeface="Poppins Light"/>
              </a:rPr>
              <a:t>total revenue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4953000" y="7724775"/>
            <a:ext cx="33813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5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7500"/>
              <a:buFont typeface="Poppins SemiBold"/>
              <a:buNone/>
            </a:pPr>
            <a:r>
              <a:rPr b="0" i="0" lang="en-US" sz="7500" u="none" cap="none" strike="noStrike">
                <a:solidFill>
                  <a:srgbClr val="2E54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$3.5M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381000" y="8772525"/>
            <a:ext cx="3381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13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3000"/>
              <a:buFont typeface="Poppins Light"/>
              <a:buNone/>
            </a:pPr>
            <a:r>
              <a:rPr b="0" i="0" lang="en-US" sz="3000" u="none" cap="none" strike="noStrike">
                <a:solidFill>
                  <a:srgbClr val="2E54CE"/>
                </a:solidFill>
                <a:latin typeface="Poppins Light"/>
                <a:ea typeface="Poppins Light"/>
                <a:cs typeface="Poppins Light"/>
                <a:sym typeface="Poppins Light"/>
              </a:rPr>
              <a:t>new offices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381000" y="7724775"/>
            <a:ext cx="33813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925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7500"/>
              <a:buFont typeface="Poppins SemiBold"/>
              <a:buNone/>
            </a:pPr>
            <a:r>
              <a:rPr b="0" i="0" lang="en-US" sz="7500" u="none" cap="none" strike="noStrike">
                <a:solidFill>
                  <a:srgbClr val="2E54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30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381000" y="3076575"/>
            <a:ext cx="164401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3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4250"/>
              <a:buFont typeface="Poppins"/>
              <a:buNone/>
            </a:pPr>
            <a:r>
              <a:rPr b="1" i="0" lang="en-US" sz="142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Company report</a:t>
            </a:r>
            <a:endParaRPr b="0" i="0" sz="14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4CE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1" name="Google Shape;1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1990725"/>
            <a:ext cx="4286250" cy="4286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72975" y="1590675"/>
            <a:ext cx="5086350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870" y="1962150"/>
            <a:ext cx="4286259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1238" y="3200400"/>
            <a:ext cx="21717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39800" y="3200400"/>
            <a:ext cx="256222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3863" y="3200400"/>
            <a:ext cx="22669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/>
          <p:nvPr/>
        </p:nvSpPr>
        <p:spPr>
          <a:xfrm>
            <a:off x="2247900" y="3200400"/>
            <a:ext cx="223837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9000"/>
              <a:buFont typeface="Poppins"/>
              <a:buNone/>
            </a:pPr>
            <a:r>
              <a:rPr b="0" i="0" lang="en-US" sz="9000" u="none" cap="none" strike="noStrike">
                <a:solidFill>
                  <a:srgbClr val="F6F6FF"/>
                </a:solidFill>
                <a:latin typeface="Poppins"/>
                <a:ea typeface="Poppins"/>
                <a:cs typeface="Poppins"/>
                <a:sym typeface="Poppins"/>
              </a:rPr>
              <a:t>79%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2847975" y="4724400"/>
            <a:ext cx="109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26"/>
              </a:lnSpc>
              <a:spcBef>
                <a:spcPts val="0"/>
              </a:spcBef>
              <a:spcAft>
                <a:spcPts val="0"/>
              </a:spcAft>
              <a:buClr>
                <a:srgbClr val="F0F0F2"/>
              </a:buClr>
              <a:buSzPts val="1875"/>
              <a:buFont typeface="Poppins"/>
              <a:buNone/>
            </a:pPr>
            <a:r>
              <a:rPr b="0" i="0" lang="en-US" sz="1875" u="none" cap="none" strike="noStrike">
                <a:solidFill>
                  <a:srgbClr val="F0F0F2"/>
                </a:solidFill>
                <a:latin typeface="Poppins"/>
                <a:ea typeface="Poppins"/>
                <a:cs typeface="Poppins"/>
                <a:sym typeface="Poppins"/>
              </a:rPr>
              <a:t>MARGINS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13601700" y="3200400"/>
            <a:ext cx="26479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9000"/>
              <a:buFont typeface="Poppins"/>
              <a:buNone/>
            </a:pPr>
            <a:r>
              <a:rPr b="0" i="0" lang="en-US" sz="9000" u="none" cap="none" strike="noStrike">
                <a:solidFill>
                  <a:srgbClr val="F6F6FF"/>
                </a:solidFill>
                <a:latin typeface="Poppins"/>
                <a:ea typeface="Poppins"/>
                <a:cs typeface="Poppins"/>
                <a:sym typeface="Poppins"/>
              </a:rPr>
              <a:t>135%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14092238" y="472440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26"/>
              </a:lnSpc>
              <a:spcBef>
                <a:spcPts val="0"/>
              </a:spcBef>
              <a:spcAft>
                <a:spcPts val="0"/>
              </a:spcAft>
              <a:buClr>
                <a:srgbClr val="F0F0F2"/>
              </a:buClr>
              <a:buSzPts val="1875"/>
              <a:buFont typeface="Poppins"/>
              <a:buNone/>
            </a:pPr>
            <a:r>
              <a:rPr b="0" i="0" lang="en-US" sz="1875" u="none" cap="none" strike="noStrike">
                <a:solidFill>
                  <a:srgbClr val="F0F0F2"/>
                </a:solidFill>
                <a:latin typeface="Poppins"/>
                <a:ea typeface="Poppins"/>
                <a:cs typeface="Poppins"/>
                <a:sym typeface="Poppins"/>
              </a:rPr>
              <a:t>NET RETENTION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8010525" y="3200400"/>
            <a:ext cx="23431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9000"/>
              <a:buFont typeface="Poppins"/>
              <a:buNone/>
            </a:pPr>
            <a:r>
              <a:rPr b="0" i="0" lang="en-US" sz="9000" u="none" cap="none" strike="noStrike">
                <a:solidFill>
                  <a:srgbClr val="F6F6FF"/>
                </a:solidFill>
                <a:latin typeface="Poppins"/>
                <a:ea typeface="Poppins"/>
                <a:cs typeface="Poppins"/>
                <a:sym typeface="Poppins"/>
              </a:rPr>
              <a:t>89%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8162925" y="47244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26"/>
              </a:lnSpc>
              <a:spcBef>
                <a:spcPts val="0"/>
              </a:spcBef>
              <a:spcAft>
                <a:spcPts val="0"/>
              </a:spcAft>
              <a:buClr>
                <a:srgbClr val="F0F0F2"/>
              </a:buClr>
              <a:buSzPts val="1875"/>
              <a:buFont typeface="Poppins"/>
              <a:buNone/>
            </a:pPr>
            <a:r>
              <a:rPr b="0" i="0" lang="en-US" sz="1875" u="none" cap="none" strike="noStrike">
                <a:solidFill>
                  <a:srgbClr val="F0F0F2"/>
                </a:solidFill>
                <a:latin typeface="Poppins"/>
                <a:ea typeface="Poppins"/>
                <a:cs typeface="Poppins"/>
                <a:sym typeface="Poppins"/>
              </a:rPr>
              <a:t>GROSS RETENTION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381000" y="7658100"/>
            <a:ext cx="67437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9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5250"/>
              <a:buFont typeface="Poppins SemiBold"/>
              <a:buNone/>
            </a:pPr>
            <a:r>
              <a:rPr b="0" i="0" lang="en-US" sz="5250" u="none" cap="none" strike="noStrike">
                <a:solidFill>
                  <a:srgbClr val="F6F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 take an average</a:t>
            </a:r>
            <a:r>
              <a:rPr b="0" i="0" lang="en-US" sz="52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b="0" i="0" lang="en-US" sz="5250" u="none" cap="none" strike="noStrike">
                <a:solidFill>
                  <a:srgbClr val="CCFFB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10% commission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7743825" y="7658100"/>
            <a:ext cx="715327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F6F6FF"/>
              </a:buClr>
              <a:buSzPts val="3000"/>
              <a:buFont typeface="Poppins"/>
              <a:buNone/>
            </a:pPr>
            <a:r>
              <a:rPr b="0" i="0" lang="en-US" sz="3000" u="none" cap="none" strike="noStrike">
                <a:solidFill>
                  <a:srgbClr val="F6F6FF"/>
                </a:solidFill>
                <a:latin typeface="Poppins"/>
                <a:ea typeface="Poppins"/>
                <a:cs typeface="Poppins"/>
                <a:sym typeface="Poppins"/>
              </a:rPr>
              <a:t>Our business model is sustainable and long-term oriented. The software is of high value for custoemers.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4C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4" name="Google Shape;1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5"/>
          <p:cNvSpPr/>
          <p:nvPr/>
        </p:nvSpPr>
        <p:spPr>
          <a:xfrm>
            <a:off x="381000" y="371475"/>
            <a:ext cx="46863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19"/>
              </a:lnSpc>
              <a:spcBef>
                <a:spcPts val="0"/>
              </a:spcBef>
              <a:spcAft>
                <a:spcPts val="0"/>
              </a:spcAft>
              <a:buClr>
                <a:srgbClr val="CCFFB0"/>
              </a:buClr>
              <a:buSzPts val="2550"/>
              <a:buFont typeface="Poppins Light"/>
              <a:buNone/>
            </a:pPr>
            <a:r>
              <a:rPr b="0" i="0" lang="en-US" sz="2550" u="none" cap="none" strike="noStrike">
                <a:solidFill>
                  <a:srgbClr val="CCFFB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These new technologies have the potential to revolutionize the way people get around cities, making transportation even more convenient and affordable.</a:t>
            </a:r>
            <a:br>
              <a:rPr b="0" i="0" lang="en-US" sz="2550" u="none" cap="none" strike="noStrike">
                <a:solidFill>
                  <a:srgbClr val="CCFFB0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6915150" y="371475"/>
            <a:ext cx="46863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19"/>
              </a:lnSpc>
              <a:spcBef>
                <a:spcPts val="0"/>
              </a:spcBef>
              <a:spcAft>
                <a:spcPts val="0"/>
              </a:spcAft>
              <a:buClr>
                <a:srgbClr val="CCFFB0"/>
              </a:buClr>
              <a:buSzPts val="2550"/>
              <a:buFont typeface="Poppins Light"/>
              <a:buNone/>
            </a:pPr>
            <a:r>
              <a:rPr b="0" i="0" lang="en-US" sz="2550" u="none" cap="none" strike="noStrike">
                <a:solidFill>
                  <a:srgbClr val="CCFFB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These new technologies have the potential to revolutionize the way people get around cities, making transportation even more convenient and affordable.</a:t>
            </a:r>
            <a:br>
              <a:rPr b="0" i="0" lang="en-US" sz="2550" u="none" cap="none" strike="noStrike">
                <a:solidFill>
                  <a:srgbClr val="CCFFB0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13268325" y="371475"/>
            <a:ext cx="46863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19"/>
              </a:lnSpc>
              <a:spcBef>
                <a:spcPts val="0"/>
              </a:spcBef>
              <a:spcAft>
                <a:spcPts val="0"/>
              </a:spcAft>
              <a:buClr>
                <a:srgbClr val="CCFFB0"/>
              </a:buClr>
              <a:buSzPts val="2550"/>
              <a:buFont typeface="Poppins Light"/>
              <a:buNone/>
            </a:pPr>
            <a:r>
              <a:rPr b="0" i="0" lang="en-US" sz="2550" u="none" cap="none" strike="noStrike">
                <a:solidFill>
                  <a:srgbClr val="CCFFB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These new technologies have the potential to revolutionize the way people get around cities, making transportation even more convenient and affordable.</a:t>
            </a:r>
            <a:br>
              <a:rPr b="0" i="0" lang="en-US" sz="2550" u="none" cap="none" strike="noStrike">
                <a:solidFill>
                  <a:srgbClr val="CCFFB0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152395" y="7530540"/>
            <a:ext cx="18164180" cy="1902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33568"/>
              </a:lnSpc>
              <a:spcBef>
                <a:spcPts val="0"/>
              </a:spcBef>
              <a:spcAft>
                <a:spcPts val="0"/>
              </a:spcAft>
              <a:buClr>
                <a:srgbClr val="E6FFD9"/>
              </a:buClr>
              <a:buSzPts val="21386"/>
              <a:buFont typeface="Poppins"/>
              <a:buNone/>
            </a:pPr>
            <a:r>
              <a:rPr b="1" i="0" lang="en-US" sz="21386" u="none" cap="none" strike="noStrike">
                <a:solidFill>
                  <a:srgbClr val="E6FFD9"/>
                </a:solidFill>
                <a:latin typeface="Poppins"/>
                <a:ea typeface="Poppins"/>
                <a:cs typeface="Poppins"/>
                <a:sym typeface="Poppins"/>
              </a:rPr>
              <a:t>Generative AI</a:t>
            </a:r>
            <a:endParaRPr b="0" i="0" sz="213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17630775" y="9734549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381000" y="973454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6A6FF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A6A6FF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A6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9" name="Google Shape;2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534525"/>
            <a:ext cx="17526000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/>
          <p:nvPr/>
        </p:nvSpPr>
        <p:spPr>
          <a:xfrm>
            <a:off x="8124825" y="1133475"/>
            <a:ext cx="8201025" cy="237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7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7850"/>
              <a:buFont typeface="Poppins"/>
              <a:buNone/>
            </a:pPr>
            <a:r>
              <a:rPr b="1" i="0" lang="en-US" sz="178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36%</a:t>
            </a:r>
            <a:endParaRPr b="0" i="0" sz="17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8124825" y="6153150"/>
            <a:ext cx="8201025" cy="237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70"/>
              </a:lnSpc>
              <a:spcBef>
                <a:spcPts val="0"/>
              </a:spcBef>
              <a:spcAft>
                <a:spcPts val="0"/>
              </a:spcAft>
              <a:buClr>
                <a:srgbClr val="CCFFB0"/>
              </a:buClr>
              <a:buSzPts val="17850"/>
              <a:buFont typeface="Poppins"/>
              <a:buNone/>
            </a:pPr>
            <a:r>
              <a:rPr b="1" i="0" lang="en-US" sz="17850" u="none" cap="none" strike="noStrike">
                <a:solidFill>
                  <a:srgbClr val="CCFFB0"/>
                </a:solidFill>
                <a:latin typeface="Poppins"/>
                <a:ea typeface="Poppins"/>
                <a:cs typeface="Poppins"/>
                <a:sym typeface="Poppins"/>
              </a:rPr>
              <a:t>56%</a:t>
            </a:r>
            <a:endParaRPr b="0" i="0" sz="17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13487400" y="6534150"/>
            <a:ext cx="357187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250"/>
              <a:buFont typeface="Poppins"/>
              <a:buNone/>
            </a:pPr>
            <a:r>
              <a:rPr b="0" i="0" lang="en-US" sz="22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To generate extra income, they run small businesses across 10+ platforms with significant complexities and admin overheads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13487400" y="1571625"/>
            <a:ext cx="357187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250"/>
              <a:buFont typeface="Poppins"/>
              <a:buNone/>
            </a:pPr>
            <a:r>
              <a:rPr b="0" i="0" lang="en-US" sz="22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To generate extra income, they run small businesses across 10+ platforms with significant complexities and admin overheads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2305050" y="1847850"/>
            <a:ext cx="54102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276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8550"/>
              <a:buFont typeface="Poppins"/>
              <a:buNone/>
            </a:pPr>
            <a:r>
              <a:rPr b="1" i="0" lang="en-US" sz="855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Insights</a:t>
            </a:r>
            <a:endParaRPr b="0" i="0" sz="8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17630775" y="9734551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381000" y="9734551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FF3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3" name="Google Shape;2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5334000"/>
            <a:ext cx="5233793" cy="786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25" y="5334000"/>
            <a:ext cx="5233793" cy="786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8250" y="5334000"/>
            <a:ext cx="5233793" cy="786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9534523"/>
            <a:ext cx="17526000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52425"/>
            <a:ext cx="971550" cy="68886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/>
          <p:nvPr/>
        </p:nvSpPr>
        <p:spPr>
          <a:xfrm>
            <a:off x="381000" y="1752600"/>
            <a:ext cx="10658475" cy="2600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925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7350"/>
              <a:buFont typeface="Poppins ExtraBold"/>
              <a:buNone/>
            </a:pPr>
            <a:r>
              <a:rPr b="0" i="0" lang="en-US" sz="7350" u="none" cap="none" strike="noStrike">
                <a:solidFill>
                  <a:srgbClr val="2E54CE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 out of 5 </a:t>
            </a:r>
            <a:br>
              <a:rPr b="0" i="0" lang="en-US" sz="7350" u="none" cap="none" strike="noStrike">
                <a:solidFill>
                  <a:srgbClr val="2E54CE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b="0" i="0" lang="en-US" sz="7350" u="none" cap="none" strike="noStrike">
                <a:solidFill>
                  <a:srgbClr val="A6A6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cars on Norway's roads are electric</a:t>
            </a:r>
            <a:endParaRPr b="0" i="0" sz="7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381000" y="6515100"/>
            <a:ext cx="5229225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0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These new technologies have the potential to revolutionize the way people get around cities, making transportation even more convenient and affordable.</a:t>
            </a:r>
            <a:br>
              <a:rPr b="0" i="0" lang="en-US" sz="24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6524625" y="6515100"/>
            <a:ext cx="5229225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0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These new technologies have the potential to revolutionize the way people get around cities, making transportation even more convenient and affordable.</a:t>
            </a:r>
            <a:br>
              <a:rPr b="0" i="0" lang="en-US" sz="24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12668250" y="6515100"/>
            <a:ext cx="5229225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08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These new technologies have the potential to revolutionize the way people get around cities, making transportation even more convenient and affordable.</a:t>
            </a:r>
            <a:br>
              <a:rPr b="0" i="0" lang="en-US" sz="24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381000" y="5334000"/>
            <a:ext cx="528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2E54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 Insight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6524625" y="5334000"/>
            <a:ext cx="528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2E54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 Insight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12668250" y="5334000"/>
            <a:ext cx="528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2E54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 Insight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17630775" y="9734550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381000" y="9734550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54CE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2E54CE"/>
                </a:solidFill>
                <a:latin typeface="Poppins"/>
                <a:ea typeface="Poppins"/>
                <a:cs typeface="Poppins"/>
                <a:sym typeface="Poppins"/>
              </a:rPr>
              <a:t>WAGGLZ PITCH 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